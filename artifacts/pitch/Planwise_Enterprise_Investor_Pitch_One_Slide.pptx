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415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Helvetica"/>
              </a:defRPr>
            </a:pPr>
            <a:r>
              <a:t>PLANWISE ENTERPRISE  •  INVESTOR BRIEFING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The Computational Intelligence Platform for Land-to-Home Development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Deterministic, model-linked automation connecting plot feasibility, building design, BOQ cost, and engineer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25296"/>
            <a:ext cx="11094415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1627632" cy="402336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FFFFFF"/>
                </a:solidFill>
                <a:latin typeface="Helvetica"/>
              </a:defRPr>
            </a:pPr>
            <a:r>
              <a:t>1. Land Intake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Boundary &amp; Topo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353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66496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289304"/>
            <a:ext cx="1627632" cy="402336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FFFFFF"/>
                </a:solidFill>
                <a:latin typeface="Helvetica"/>
              </a:defRPr>
            </a:pPr>
            <a:r>
              <a:t>2. Feasibility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DCPR 2034 &amp;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53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66496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289304"/>
            <a:ext cx="1627632" cy="402336"/>
          </a:xfrm>
          <a:prstGeom prst="roundRect">
            <a:avLst/>
          </a:prstGeom>
          <a:solidFill>
            <a:srgbClr val="192A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38BDF8"/>
                </a:solidFill>
                <a:latin typeface="Helvetica"/>
              </a:defRPr>
            </a:pPr>
            <a:r>
              <a:t>3. Parametric Design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CBM Solvers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353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66496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289304"/>
            <a:ext cx="1627632" cy="402336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FFFFFF"/>
                </a:solidFill>
                <a:latin typeface="Helvetica"/>
              </a:defRPr>
            </a:pPr>
            <a:r>
              <a:t>4. Cost &amp; BOQ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CPWD / IS 1200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6" y="1353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66496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289304"/>
            <a:ext cx="1627632" cy="402336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FFFFFF"/>
                </a:solidFill>
                <a:latin typeface="Helvetica"/>
              </a:defRPr>
            </a:pPr>
            <a:r>
              <a:t>5. Build Review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Constructibility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064" y="1353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66496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289304"/>
            <a:ext cx="1627632" cy="402336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850" b="1">
                <a:solidFill>
                  <a:srgbClr val="FFFFFF"/>
                </a:solidFill>
                <a:latin typeface="Helvetica"/>
              </a:defRPr>
            </a:pPr>
            <a:r>
              <a:t>6. Engineer Handoff</a:t>
            </a:r>
          </a:p>
          <a:p>
            <a:pPr algn="ctr">
              <a:defRPr sz="750">
                <a:solidFill>
                  <a:srgbClr val="94A3B8"/>
                </a:solidFill>
                <a:latin typeface="Arial"/>
              </a:defRPr>
            </a:pPr>
            <a:r>
              <a:t>IFC4 &amp; G0–G8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874519"/>
            <a:ext cx="4480560" cy="12252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965959"/>
            <a:ext cx="41879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Helvetica"/>
              </a:defRPr>
            </a:pPr>
            <a:r>
              <a:t>PROBLEM &amp; SOLUTION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Problem: Land feasibility, design, and costing are fragmented across disconnected tools.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Solution: One connected computational workflow linking plot geometry, zoning, 3D models, and BOQ.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9543"/>
            <a:ext cx="4480560" cy="140817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300983"/>
            <a:ext cx="4187952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Helvetica"/>
              </a:defRPr>
            </a:pPr>
            <a:r>
              <a:t>TECHNICAL DIFFERENTIATION (DETERMINISTIC CORE)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Deterministic Math: CP-SAT discrete solver and watertight Manifold3D solids—zero AI hallucinations.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Traceable BOQ: Model-linked IS 1200 quantities with automated CPWD rate analysis.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Review Gates: Immutable G0–G8 engineering sign-off locks with cryptographic audit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27447"/>
            <a:ext cx="4480560" cy="12161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818887"/>
            <a:ext cx="418795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Helvetica"/>
              </a:defRPr>
            </a:pPr>
            <a:r>
              <a:t>TARGET CUSTOMERS &amp; PROPOSED MODEL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Target Customers: Architects, residential developers, and structural engineering consultancies.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Proposed Model: Proposed B2B SaaS subscription for professional project teams.</a:t>
            </a:r>
          </a:p>
          <a:p>
            <a:pPr>
              <a:spcBef>
                <a:spcPts val="300"/>
              </a:spcBef>
              <a:defRPr sz="950">
                <a:solidFill>
                  <a:srgbClr val="10B981"/>
                </a:solidFill>
                <a:latin typeface="Arial"/>
              </a:defRPr>
            </a:pPr>
            <a:r>
              <a:t>• Vision: Make land-to-home development measurable, traceable, and coordinated.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0368" y="1874519"/>
            <a:ext cx="6409944" cy="406908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66944" y="1911095"/>
            <a:ext cx="6336792" cy="292608"/>
          </a:xfrm>
          <a:prstGeom prst="rect">
            <a:avLst/>
          </a:prstGeom>
          <a:solidFill>
            <a:srgbClr val="13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8384" y="1984247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0" y="1984247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14416" y="1984247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1929383"/>
            <a:ext cx="38496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"/>
              </a:defRPr>
            </a:pPr>
            <a:r>
              <a:t>planwise.enterprise / studio • Bandra CTS-1842 Benchmark (1,500 sq ft Plot)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1929383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10B981"/>
                </a:solidFill>
                <a:latin typeface="Helvetica"/>
              </a:defRPr>
            </a:pPr>
            <a:r>
              <a:t>CBM v1.4 • DCPR 2034 Verified</a:t>
            </a:r>
          </a:p>
        </p:txBody>
      </p:sp>
      <p:pic>
        <p:nvPicPr>
          <p:cNvPr id="29" name="Picture 28" descr="product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2221991"/>
            <a:ext cx="6190488" cy="33832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340096" y="5641847"/>
            <a:ext cx="6190488" cy="237744"/>
          </a:xfrm>
          <a:prstGeom prst="rect">
            <a:avLst/>
          </a:prstGeom>
          <a:solidFill>
            <a:srgbClr val="101B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750" b="1">
                <a:solidFill>
                  <a:srgbClr val="38BDF8"/>
                </a:solidFill>
                <a:latin typeface="Helvetica"/>
              </a:defRPr>
            </a:pPr>
            <a:r>
              <a:t>CANONICAL BUILDING MODEL (CBM) SOURCE OF TRUTH  •  DETERMINISTIC CP-SAT LAYOUT &amp; DRAWING COMPILER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053328"/>
            <a:ext cx="11094415" cy="530352"/>
          </a:xfrm>
          <a:prstGeom prst="roundRect">
            <a:avLst/>
          </a:prstGeom>
          <a:solidFill>
            <a:srgbClr val="0D15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6108192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Helvetica"/>
              </a:defRPr>
            </a:pPr>
            <a:r>
              <a:t>VERIFIED ENGINEERING BASELINE (OCTOBER 2026):  44/44 Regression Tests Passing  •  8 PostGIS Migrations (34 RLS Tables)  •  ES256 JWKS Cryptographic Security  •  IFC4 OpenBIM &amp; 9-Sheet Drawing Compiler</a:t>
            </a:r>
          </a:p>
          <a:p>
            <a:pPr>
              <a:spcBef>
                <a:spcPts val="200"/>
              </a:spcBef>
              <a:defRPr sz="720">
                <a:solidFill>
                  <a:srgbClr val="94A3B8"/>
                </a:solidFill>
                <a:latin typeface="Arial"/>
              </a:defRPr>
            </a:pPr>
            <a:r>
              <a:t>Stage: Controlled-pilot engineered baseline. AI is strictly advisory. Computational validation assists licensed professionals; does not replace statutory municipal permits or professional engineering seal.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