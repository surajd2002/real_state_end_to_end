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2560320" cy="347472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50" b="1">
                <a:solidFill>
                  <a:srgbClr val="38BDF8"/>
                </a:solidFill>
                <a:latin typeface="Arial"/>
              </a:defRPr>
            </a:pPr>
            <a:r>
              <a:t>PLANWISE ENTERPRISE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0" y="1024128"/>
            <a:ext cx="2743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Computational Development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530352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From a piece of land to a build-ready project.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530352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Arial"/>
              </a:defRPr>
            </a:pPr>
            <a:r>
              <a:t>Land-to-Home Development &amp; Construction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5196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Unifying statutory land feasibility, computational house design, model-linked quantities, regional cost waterfalls, and licensed professional review into one traceable, deterministic workflow.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521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Confidential Business Presentation  •  October 2026</a:t>
            </a:r>
          </a:p>
        </p:txBody>
      </p:sp>
      <p:pic>
        <p:nvPicPr>
          <p:cNvPr id="9" name="Picture 8" descr="cover_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914400"/>
            <a:ext cx="5196535" cy="50292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263640" y="914400"/>
            <a:ext cx="5196535" cy="5029200"/>
          </a:xfrm>
          <a:prstGeom prst="rect">
            <a:avLst/>
          </a:prstGeom>
          <a:noFill/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rial"/>
              </a:defRPr>
            </a:pPr>
            <a:r>
              <a:t>MARKET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Arial"/>
              </a:defRPr>
            </a:pPr>
            <a:r>
              <a:t>Real estate development is fragmented.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Arial"/>
              </a:defRPr>
            </a:pPr>
            <a:r>
              <a:t>A single residential parcel passes through disconnected silos, causing repeated rework, cost drift, and project delays.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82512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PLANWISE ENTERPRISE  •  Land-to-Home Development &amp; Construction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8251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Arial"/>
              </a:defRPr>
            </a:pPr>
            <a:r>
              <a:t>2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728655" cy="105156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1036289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Arial"/>
              </a:defRPr>
            </a:pPr>
            <a:r>
              <a:t>THE TRADITIONAL SEQUENTIAL RELAY (HIGH FRICTION &amp; DATA RE-CREATION)</a:t>
            </a:r>
          </a:p>
          <a:p>
            <a:pPr>
              <a:defRPr sz="1100" b="1">
                <a:solidFill>
                  <a:srgbClr val="F8FAFC"/>
                </a:solidFill>
                <a:latin typeface="Arial"/>
              </a:defRPr>
            </a:pPr>
            <a:r>
              <a:t>Land  →  Survey  →  Feasibility  →  Architect  →  Design  →  BOQ  →  Costing  →  Engineer  →  Approvals  →  Contractor  →  Construction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⚠ Every handoff occurs between disjointed software tools, PDFs, and spreadsheets with zero shared single source of truth.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17520"/>
            <a:ext cx="3364992" cy="306324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200400"/>
            <a:ext cx="2907792" cy="2697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38BDF8"/>
                </a:solidFill>
                <a:latin typeface="Arial"/>
              </a:defRPr>
            </a:pPr>
            <a:r>
              <a:t>PROBLEM 01</a:t>
            </a:r>
          </a:p>
          <a:p>
            <a:pPr>
              <a:defRPr sz="1400" b="1">
                <a:solidFill>
                  <a:srgbClr val="F8FAFC"/>
                </a:solidFill>
                <a:latin typeface="Arial"/>
              </a:defRPr>
            </a:pPr>
            <a:r>
              <a:t>Disconnected Data Silos</a:t>
            </a:r>
          </a:p>
          <a:p>
            <a:pPr>
              <a:defRPr sz="1000" b="1">
                <a:solidFill>
                  <a:srgbClr val="F59E0B"/>
                </a:solidFill>
                <a:latin typeface="Arial"/>
              </a:defRPr>
            </a:pPr>
            <a:r>
              <a:t>Data gets recreated repeatedly</a:t>
            </a:r>
          </a:p>
          <a:p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•  Surveys, CAD drawings, and spreadsheets live in isolated files across separate consulting firms.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•  Every stakeholder manually redraws project geometry from scratch, introducing discrepancies.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•  No single traceable project model connects land coordinates to construction handoff.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3017520"/>
            <a:ext cx="3364992" cy="306324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3200400"/>
            <a:ext cx="2907792" cy="2697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38BDF8"/>
                </a:solidFill>
                <a:latin typeface="Arial"/>
              </a:defRPr>
            </a:pPr>
            <a:r>
              <a:t>PROBLEM 02</a:t>
            </a:r>
          </a:p>
          <a:p>
            <a:pPr>
              <a:defRPr sz="1400" b="1">
                <a:solidFill>
                  <a:srgbClr val="F8FAFC"/>
                </a:solidFill>
                <a:latin typeface="Arial"/>
              </a:defRPr>
            </a:pPr>
            <a:r>
              <a:t>Rework &amp; Cost Drift</a:t>
            </a:r>
          </a:p>
          <a:p>
            <a:pPr>
              <a:defRPr sz="1000" b="1">
                <a:solidFill>
                  <a:srgbClr val="F59E0B"/>
                </a:solidFill>
                <a:latin typeface="Arial"/>
              </a:defRPr>
            </a:pPr>
            <a:r>
              <a:t>Design adjustments break downstream cost</a:t>
            </a:r>
          </a:p>
          <a:p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•  Statutory feasibility is largely manual and error-prone during early land evaluation.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•  Downstream BOQ and cost estimates drift continuously from iterative design modifications.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•  Cost blindspots and scope mismatches are discovered too late, triggering painful redesigns.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3017520"/>
            <a:ext cx="3364992" cy="306324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1896" y="3200400"/>
            <a:ext cx="2907792" cy="2697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38BDF8"/>
                </a:solidFill>
                <a:latin typeface="Arial"/>
              </a:defRPr>
            </a:pPr>
            <a:r>
              <a:t>PROBLEM 03</a:t>
            </a:r>
          </a:p>
          <a:p>
            <a:pPr>
              <a:defRPr sz="1400" b="1">
                <a:solidFill>
                  <a:srgbClr val="F8FAFC"/>
                </a:solidFill>
                <a:latin typeface="Arial"/>
              </a:defRPr>
            </a:pPr>
            <a:r>
              <a:t>Delayed Validation</a:t>
            </a:r>
          </a:p>
          <a:p>
            <a:pPr>
              <a:defRPr sz="1000" b="1">
                <a:solidFill>
                  <a:srgbClr val="F59E0B"/>
                </a:solidFill>
                <a:latin typeface="Arial"/>
              </a:defRPr>
            </a:pPr>
            <a:r>
              <a:t>Professional review happens too late</a:t>
            </a:r>
          </a:p>
          <a:p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•  Licensed structural and statutory compliance reviews only occur after design freeze.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•  Non-compliant designs require costly re-drafting and delay municipal approval cycles.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•  Customers and builders struggle to interpret opaque technical and engineering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rial"/>
              </a:defRPr>
            </a:pPr>
            <a:r>
              <a:t>CORE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Arial"/>
              </a:defRPr>
            </a:pPr>
            <a:r>
              <a:t>One computational workflow. One source of truth.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Arial"/>
              </a:defRPr>
            </a:pPr>
            <a:r>
              <a:t>The Canonical Building Model (CBM) links every stage from land parcel coordinates to licensed build release.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82512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PLANWISE ENTERPRISE  •  Land-to-Home Development &amp; Construction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8251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Arial"/>
              </a:defRPr>
            </a:pPr>
            <a:r>
              <a:t>3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5029200" cy="434340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920240"/>
            <a:ext cx="457200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THE UNIFIED PLANWISE WORKFLOW</a:t>
            </a:r>
          </a:p>
          <a:p>
            <a:pPr>
              <a:defRPr sz="1100" b="1">
                <a:solidFill>
                  <a:srgbClr val="F8FAFC"/>
                </a:solidFill>
                <a:latin typeface="Arial"/>
              </a:defRPr>
            </a:pPr>
            <a:r>
              <a:t>01  Land Intake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     SECS topocentric frame &amp; boundary survey</a:t>
            </a:r>
          </a:p>
          <a:p>
            <a:pPr>
              <a:defRPr sz="1100" b="1">
                <a:solidFill>
                  <a:srgbClr val="F8FAFC"/>
                </a:solidFill>
                <a:latin typeface="Arial"/>
              </a:defRPr>
            </a:pPr>
            <a:r>
              <a:t>02  Statutory Feasibility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     Mumbai DCPR 2034 rules, setbacks &amp; envelope</a:t>
            </a:r>
          </a:p>
          <a:p>
            <a:pPr>
              <a:defRPr sz="1100" b="1">
                <a:solidFill>
                  <a:srgbClr val="F8FAFC"/>
                </a:solidFill>
                <a:latin typeface="Arial"/>
              </a:defRPr>
            </a:pPr>
            <a:r>
              <a:t>03  House Generation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     Multi-constraint CP-SAT parametric layouts</a:t>
            </a:r>
          </a:p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04  Canonical Building Model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     Semantic 3D single source of truth (CBM)</a:t>
            </a:r>
          </a:p>
          <a:p>
            <a:pPr>
              <a:defRPr sz="1100" b="1">
                <a:solidFill>
                  <a:srgbClr val="F8FAFC"/>
                </a:solidFill>
                <a:latin typeface="Arial"/>
              </a:defRPr>
            </a:pPr>
            <a:r>
              <a:t>05  Model-Linked QTO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     Automated IS 1200 rules &amp; geometric deductions</a:t>
            </a:r>
          </a:p>
          <a:p>
            <a:pPr>
              <a:defRPr sz="1100" b="1">
                <a:solidFill>
                  <a:srgbClr val="F8FAFC"/>
                </a:solidFill>
                <a:latin typeface="Arial"/>
              </a:defRPr>
            </a:pPr>
            <a:r>
              <a:t>06  Cost Waterfall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     Regional trade, material, labour &amp; margin breakdown</a:t>
            </a:r>
          </a:p>
          <a:p>
            <a:pPr>
              <a:defRPr sz="1100" b="1">
                <a:solidFill>
                  <a:srgbClr val="F8FAFC"/>
                </a:solidFill>
                <a:latin typeface="Arial"/>
              </a:defRPr>
            </a:pPr>
            <a:r>
              <a:t>07  Professional Review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     G0–G6 multi-discipline engineer review ledger</a:t>
            </a:r>
          </a:p>
          <a:p>
            <a:pPr>
              <a:defRPr sz="1100" b="1">
                <a:solidFill>
                  <a:srgbClr val="F8FAFC"/>
                </a:solidFill>
                <a:latin typeface="Arial"/>
              </a:defRPr>
            </a:pPr>
            <a:r>
              <a:t>08  Build Release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     Cryptographic SHA-256 seal &amp; IFC4 BIM package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783080"/>
            <a:ext cx="5468112" cy="434340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bm_bi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920240"/>
            <a:ext cx="5102352" cy="20116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72200" y="4069080"/>
            <a:ext cx="5102352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rial"/>
              </a:defRPr>
            </a:pPr>
            <a:r>
              <a:t>THE CANONICAL BUILDING MODEL (CBM) DIFFERENTIATOR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The same underlying mathematical building model simultaneously drives:</a:t>
            </a:r>
          </a:p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✓  Floor plans &amp; 2D/3D geometry without manual drafting</a:t>
            </a:r>
          </a:p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✓  Automated 12-point statutory &amp; physical geometric validation</a:t>
            </a:r>
          </a:p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✓  Model-linked material takeoff (concrete, AAC blocks, plaster)</a:t>
            </a:r>
          </a:p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✓  Hierarchical 7-trade BOQ tied directly to 3D element IDs</a:t>
            </a:r>
          </a:p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✓  Live regional construction cost waterfalls</a:t>
            </a:r>
          </a:p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✓  Multi-discipline licensed engineer review and tamper-evident release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rial"/>
              </a:defRPr>
            </a:pPr>
            <a:r>
              <a:t>PLATFORM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Arial"/>
              </a:defRPr>
            </a:pPr>
            <a:r>
              <a:t>What Planwise actually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Arial"/>
              </a:defRPr>
            </a:pPr>
            <a:r>
              <a:t>Six integrated computational modules replacing weeks of fragmented pre-construction consulting.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82512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PLANWISE ENTERPRISE  •  Land-to-Home Development &amp; Construction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8251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Arial"/>
              </a:defRPr>
            </a:pPr>
            <a:r>
              <a:t>4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74519"/>
            <a:ext cx="3364992" cy="201168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57399"/>
            <a:ext cx="2907792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MODULE 01</a:t>
            </a:r>
          </a:p>
          <a:p>
            <a:pPr>
              <a:defRPr sz="1400" b="1">
                <a:solidFill>
                  <a:srgbClr val="F8FAFC"/>
                </a:solidFill>
                <a:latin typeface="Arial"/>
              </a:defRPr>
            </a:pPr>
            <a:r>
              <a:t>Land Intelligence</a:t>
            </a:r>
          </a:p>
          <a:p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Reconstructs surveyed parcel boundaries into an authoritative topocentric SECS coordinate frame with geodetic GPS anchoring.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874519"/>
            <a:ext cx="3364992" cy="201168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2057399"/>
            <a:ext cx="2907792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MODULE 02</a:t>
            </a:r>
          </a:p>
          <a:p>
            <a:pPr>
              <a:defRPr sz="1400" b="1">
                <a:solidFill>
                  <a:srgbClr val="F8FAFC"/>
                </a:solidFill>
                <a:latin typeface="Arial"/>
              </a:defRPr>
            </a:pPr>
            <a:r>
              <a:t>Feasibility Engine</a:t>
            </a:r>
          </a:p>
          <a:p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Applies statutory municipal rulepacks (e.g. Mumbai DCPR 2034) to calculate road widening, setbacks, FSI, and buildable envelopes in seconds.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874519"/>
            <a:ext cx="3364992" cy="201168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1896" y="2057399"/>
            <a:ext cx="2907792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MODULE 03</a:t>
            </a:r>
          </a:p>
          <a:p>
            <a:pPr>
              <a:defRPr sz="1400" b="1">
                <a:solidFill>
                  <a:srgbClr val="F8FAFC"/>
                </a:solidFill>
                <a:latin typeface="Arial"/>
              </a:defRPr>
            </a:pPr>
            <a:r>
              <a:t>Computational Design</a:t>
            </a:r>
          </a:p>
          <a:p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Solves multi-constraint topological layouts using Google OR-Tools CP-SAT to produce Pareto-optimal, compliant residential floor plans.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160519"/>
            <a:ext cx="3364992" cy="201168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343399"/>
            <a:ext cx="2907792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MODULE 04</a:t>
            </a:r>
          </a:p>
          <a:p>
            <a:pPr>
              <a:defRPr sz="1400" b="1">
                <a:solidFill>
                  <a:srgbClr val="F8FAFC"/>
                </a:solidFill>
                <a:latin typeface="Arial"/>
              </a:defRPr>
            </a:pPr>
            <a:r>
              <a:t>Quantity &amp; Cost Engine</a:t>
            </a:r>
          </a:p>
          <a:p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Extracts exact material volumes directly from 3D geometry using IS 1200 deduction rules, linked to regional trade rate snapshots.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07408" y="4160519"/>
            <a:ext cx="3364992" cy="201168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36008" y="4343399"/>
            <a:ext cx="2907792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MODULE 05</a:t>
            </a:r>
          </a:p>
          <a:p>
            <a:pPr>
              <a:defRPr sz="1400" b="1">
                <a:solidFill>
                  <a:srgbClr val="F8FAFC"/>
                </a:solidFill>
                <a:latin typeface="Arial"/>
              </a:defRPr>
            </a:pPr>
            <a:r>
              <a:t>Professional Review</a:t>
            </a:r>
          </a:p>
          <a:p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Enforces a structured G0–G6 verification ledger for certified land surveyors, architects, and structural engineers.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4160519"/>
            <a:ext cx="3364992" cy="201168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1896" y="4343399"/>
            <a:ext cx="2907792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MODULE 06</a:t>
            </a:r>
          </a:p>
          <a:p>
            <a:pPr>
              <a:defRPr sz="1400" b="1">
                <a:solidFill>
                  <a:srgbClr val="F8FAFC"/>
                </a:solidFill>
                <a:latin typeface="Arial"/>
              </a:defRPr>
            </a:pPr>
            <a:r>
              <a:t>Build Handoff</a:t>
            </a:r>
          </a:p>
          <a:p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Compiles tamper-evident IFC4 BIM files, validation audit reports, itemized BOQs, and cryptographic SHA-256 release certificates.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rial"/>
              </a:defRPr>
            </a:pPr>
            <a:r>
              <a:t>CUSTOMER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Arial"/>
              </a:defRPr>
            </a:pPr>
            <a:r>
              <a:t>Complex engineering underneath. Simple experience on top.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Arial"/>
              </a:defRPr>
            </a:pPr>
            <a:r>
              <a:t>Landowners, builders, and developers navigate a clear, transparent decision journey without technical friction.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82512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PLANWISE ENTERPRISE  •  Land-to-Home Development &amp; Construction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8251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Arial"/>
              </a:defRPr>
            </a:pPr>
            <a:r>
              <a:t>5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74519"/>
            <a:ext cx="1645920" cy="329184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011679"/>
            <a:ext cx="1371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STEP 01</a:t>
            </a:r>
          </a:p>
          <a:p>
            <a:pPr>
              <a:defRPr sz="1200" b="1">
                <a:solidFill>
                  <a:srgbClr val="F8FAFC"/>
                </a:solidFill>
                <a:latin typeface="Arial"/>
              </a:defRPr>
            </a:pPr>
            <a:r>
              <a:t>Tell us about your land</a:t>
            </a:r>
          </a:p>
          <a:p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Input coordinates, CTS revenue number, or upload registered surveyor boundary sketch.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47518" y="1874519"/>
            <a:ext cx="1645920" cy="329184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84678" y="2011679"/>
            <a:ext cx="1371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STEP 02</a:t>
            </a:r>
          </a:p>
          <a:p>
            <a:pPr>
              <a:defRPr sz="1200" b="1">
                <a:solidFill>
                  <a:srgbClr val="F8FAFC"/>
                </a:solidFill>
                <a:latin typeface="Arial"/>
              </a:defRPr>
            </a:pPr>
            <a:r>
              <a:t>See what can be built</a:t>
            </a:r>
          </a:p>
          <a:p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Instant visual statutory envelope, permissible FSI limits, and municipal setback overlay.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3516" y="1874519"/>
            <a:ext cx="1645920" cy="329184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0676" y="2011679"/>
            <a:ext cx="1371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STEP 03</a:t>
            </a:r>
          </a:p>
          <a:p>
            <a:pPr>
              <a:defRPr sz="1200" b="1">
                <a:solidFill>
                  <a:srgbClr val="F8FAFC"/>
                </a:solidFill>
                <a:latin typeface="Arial"/>
              </a:defRPr>
            </a:pPr>
            <a:r>
              <a:t>Choose your house</a:t>
            </a:r>
          </a:p>
          <a:p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Explore multiple Pareto-optimal floor plans and 3D architectural massing alternatives.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9514" y="1874519"/>
            <a:ext cx="1645920" cy="329184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6674" y="2011679"/>
            <a:ext cx="1371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STEP 04</a:t>
            </a:r>
          </a:p>
          <a:p>
            <a:pPr>
              <a:defRPr sz="1200" b="1">
                <a:solidFill>
                  <a:srgbClr val="F8FAFC"/>
                </a:solidFill>
                <a:latin typeface="Arial"/>
              </a:defRPr>
            </a:pPr>
            <a:r>
              <a:t>See estimated cost</a:t>
            </a:r>
          </a:p>
          <a:p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Live, transparent preliminary cost breakdown by trades, materials, labour, and prelims.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95512" y="1874519"/>
            <a:ext cx="1645920" cy="329184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2672" y="2011679"/>
            <a:ext cx="1371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STEP 05</a:t>
            </a:r>
          </a:p>
          <a:p>
            <a:pPr>
              <a:defRPr sz="1200" b="1">
                <a:solidFill>
                  <a:srgbClr val="F8FAFC"/>
                </a:solidFill>
                <a:latin typeface="Arial"/>
              </a:defRPr>
            </a:pPr>
            <a:r>
              <a:t>Request review</a:t>
            </a:r>
          </a:p>
          <a:p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Engage certified engineers and surveyors for structured multi-discipline gate verification.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11510" y="1874519"/>
            <a:ext cx="1645920" cy="329184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48670" y="2011679"/>
            <a:ext cx="1371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STEP 06</a:t>
            </a:r>
          </a:p>
          <a:p>
            <a:pPr>
              <a:defRPr sz="1200" b="1">
                <a:solidFill>
                  <a:srgbClr val="F8FAFC"/>
                </a:solidFill>
                <a:latin typeface="Arial"/>
              </a:defRPr>
            </a:pPr>
            <a:r>
              <a:t>Move to build</a:t>
            </a:r>
          </a:p>
          <a:p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Receive stamped engineering audit, IFC4 BIM model, and contractor-ready 7-trade BOQ.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349240"/>
            <a:ext cx="10728655" cy="777240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440680"/>
            <a:ext cx="1036289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38BDF8"/>
                </a:solidFill>
                <a:latin typeface="Arial"/>
              </a:defRPr>
            </a:pPr>
            <a:r>
              <a:t>THE USER EXPERIENCE PROMISE</a:t>
            </a:r>
          </a:p>
          <a:p>
            <a:pPr>
              <a:defRPr sz="1050">
                <a:solidFill>
                  <a:srgbClr val="F8FAFC"/>
                </a:solidFill>
                <a:latin typeface="Arial"/>
              </a:defRPr>
            </a:pPr>
            <a:r>
              <a:t>Replaces 4–8 weeks of fragmented consulting with minutes of computational clarity, giving property owners total transparency before committing capital.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rial"/>
              </a:defRPr>
            </a:pPr>
            <a:r>
              <a:t>VERIFIED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Arial"/>
              </a:defRPr>
            </a:pPr>
            <a:r>
              <a:t>This is already a working platform.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Arial"/>
              </a:defRPr>
            </a:pPr>
            <a:r>
              <a:t>Planwise is not an unbuilt concept—the core end-to-end computational pipeline is fully implemented.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82512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PLANWISE ENTERPRISE  •  Land-to-Home Development &amp; Construction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8251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Arial"/>
              </a:defRPr>
            </a:pPr>
            <a:r>
              <a:t>6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74519"/>
            <a:ext cx="3364992" cy="3977639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57399"/>
            <a:ext cx="2999232" cy="3611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Land, Law &amp; Geometry</a:t>
            </a:r>
          </a:p>
          <a:p/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✓  SECS geodetic-to-planar coordinate transformation</a:t>
            </a:r>
          </a:p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✓  Site evidence engine with surveyor licence tracking</a:t>
            </a:r>
          </a:p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✓  Mumbai DCPR 2034 statutory rule engine (road widening &amp; setbacks)</a:t>
            </a:r>
          </a:p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✓  Customer design brief intake (hard &amp; soft constraints)</a:t>
            </a:r>
          </a:p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✓  CP-SAT parametric layout generator (Google OR-Tools)</a:t>
            </a:r>
          </a:p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✓  Canonical Building Model (CBM) semantic 3D data structure</a:t>
            </a:r>
          </a:p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✓  12 automated statutory &amp; physical geometric validation checks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874519"/>
            <a:ext cx="3364992" cy="3977639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2057399"/>
            <a:ext cx="2999232" cy="3611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rial"/>
              </a:defRPr>
            </a:pPr>
            <a:r>
              <a:t>Quantities, Cost &amp; Verification</a:t>
            </a:r>
          </a:p>
          <a:p/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✓  Model-linked QTO takeoff with IS 1200 deduction rules</a:t>
            </a:r>
          </a:p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✓  Hierarchical 7-trade BOQ compilation</a:t>
            </a:r>
          </a:p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✓  Regional cost waterfall engine (INDIA-MUMBAI-2026-Q4-V1)</a:t>
            </a:r>
          </a:p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✓  Build Review customer acknowledgement workflow</a:t>
            </a:r>
          </a:p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✓  Engineer Review Ledger with G0–G6 multi-discipline gates</a:t>
            </a:r>
          </a:p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✓  Cryptographic SHA-256 release fingerprinting</a:t>
            </a:r>
          </a:p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✓  Export to IFC4 BIM, JSON manifests, and CSV takeoffs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874519"/>
            <a:ext cx="3364992" cy="3977639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6" y="2057399"/>
            <a:ext cx="2999232" cy="3611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Operational Evidence &amp; UI</a:t>
            </a:r>
          </a:p>
          <a:p/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✓  Full-stack application: FastAPI gateway + React/TypeScript UI</a:t>
            </a:r>
          </a:p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✓  Interactive CAD parcel workspace with snapping &amp; ortho tools</a:t>
            </a:r>
          </a:p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✓  Mapbox GIS workspace with cadastral overlays</a:t>
            </a:r>
          </a:p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✓  131 backend unit &amp; regression tests passing</a:t>
            </a:r>
          </a:p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✓  20 Vitest geometry engine tests passing</a:t>
            </a:r>
          </a:p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✓  PostgreSQL schema with immutable release ledgers</a:t>
            </a:r>
          </a:p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✓  Controlled single-project pilot executed end-to-end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9436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*Note: While core feasibility, generation, QTO, costing, and review are fully functional, physical construction authorization remains strictly gated for licensed professionals.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rial"/>
              </a:defRPr>
            </a:pPr>
            <a:r>
              <a:t>PILOT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Arial"/>
              </a:defRPr>
            </a:pPr>
            <a:r>
              <a:t>From software to a controlled real-project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Arial"/>
              </a:defRPr>
            </a:pPr>
            <a:r>
              <a:t>Executed end-to-end on an authoritative 1,100 sq ft residential parcel in Bandra West, Mumbai.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82512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PLANWISE ENTERPRISE  •  Land-to-Home Development &amp; Construction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8251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Arial"/>
              </a:defRPr>
            </a:pPr>
            <a:r>
              <a:t>7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74519"/>
            <a:ext cx="2542032" cy="100584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84247"/>
            <a:ext cx="2267712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38BDF8"/>
                </a:solidFill>
                <a:latin typeface="Arial"/>
              </a:defRPr>
            </a:pPr>
            <a:r>
              <a:t>AUTHORITATIVE PLOT AREA</a:t>
            </a:r>
          </a:p>
          <a:p>
            <a:pPr>
              <a:defRPr sz="1400" b="1">
                <a:solidFill>
                  <a:srgbClr val="F8FAFC"/>
                </a:solidFill>
                <a:latin typeface="Arial"/>
              </a:defRPr>
            </a:pPr>
            <a:r>
              <a:t>1,100.0 sq ft</a:t>
            </a:r>
          </a:p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102.19 m² preserved invariant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1874519"/>
            <a:ext cx="2542032" cy="100584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1984247"/>
            <a:ext cx="2267712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38BDF8"/>
                </a:solidFill>
                <a:latin typeface="Arial"/>
              </a:defRPr>
            </a:pPr>
            <a:r>
              <a:t>LOCATION &amp; RECORD</a:t>
            </a:r>
          </a:p>
          <a:p>
            <a:pPr>
              <a:defRPr sz="1400" b="1">
                <a:solidFill>
                  <a:srgbClr val="F8FAFC"/>
                </a:solidFill>
                <a:latin typeface="Arial"/>
              </a:defRPr>
            </a:pPr>
            <a:r>
              <a:t>Bandra West, Mumbai</a:t>
            </a:r>
          </a:p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CTS-1842-BANDRA (DCPR 2034)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874519"/>
            <a:ext cx="2542032" cy="100584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18504" y="1984247"/>
            <a:ext cx="2267712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38BDF8"/>
                </a:solidFill>
                <a:latin typeface="Arial"/>
              </a:defRPr>
            </a:pPr>
            <a:r>
              <a:t>SELECTED DESIGN OPTION</a:t>
            </a:r>
          </a:p>
          <a:p>
            <a:pPr>
              <a:defRPr sz="1400" b="1">
                <a:solidFill>
                  <a:srgbClr val="F8FAFC"/>
                </a:solidFill>
                <a:latin typeface="Arial"/>
              </a:defRPr>
            </a:pPr>
            <a:r>
              <a:t>Option B (G+1)</a:t>
            </a:r>
          </a:p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98.16 m² Gross BUA (76.8 m² Carpet)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6256" y="1874519"/>
            <a:ext cx="2542032" cy="100584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43416" y="1984247"/>
            <a:ext cx="2267712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38BDF8"/>
                </a:solidFill>
                <a:latin typeface="Arial"/>
              </a:defRPr>
            </a:pPr>
            <a:r>
              <a:t>PRELIMINARY COST WATERFALL</a:t>
            </a:r>
          </a:p>
          <a:p>
            <a:pPr>
              <a:defRPr sz="1400" b="1">
                <a:solidFill>
                  <a:srgbClr val="F8FAFC"/>
                </a:solidFill>
                <a:latin typeface="Arial"/>
              </a:defRPr>
            </a:pPr>
            <a:r>
              <a:t>₹13,18,391 INR</a:t>
            </a:r>
          </a:p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Direct preliminary construction cost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017520"/>
            <a:ext cx="5230368" cy="283464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154680"/>
            <a:ext cx="4864608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12-STAGE CONTROLLED PILOT EXECUTION TRACE</a:t>
            </a:r>
          </a:p>
          <a:p>
            <a:pPr>
              <a:defRPr sz="850">
                <a:solidFill>
                  <a:srgbClr val="E2E8F0"/>
                </a:solidFill>
                <a:latin typeface="Arial"/>
              </a:defRPr>
            </a:pPr>
            <a:r>
              <a:t>•  Reconstructed planar SECS boundary: 27.5 ft front × 40.0 ft depth.</a:t>
            </a:r>
          </a:p>
          <a:p>
            <a:pPr>
              <a:defRPr sz="850">
                <a:solidFill>
                  <a:srgbClr val="E2E8F0"/>
                </a:solidFill>
                <a:latin typeface="Arial"/>
              </a:defRPr>
            </a:pPr>
            <a:r>
              <a:t>•  Deducted 3.0m road widening strip along southern road frontage.</a:t>
            </a:r>
          </a:p>
          <a:p>
            <a:pPr>
              <a:defRPr sz="850">
                <a:solidFill>
                  <a:srgbClr val="E2E8F0"/>
                </a:solidFill>
                <a:latin typeface="Arial"/>
              </a:defRPr>
            </a:pPr>
            <a:r>
              <a:t>•  Applied Mumbai DCPR 2034 setbacks: 49.06 m² buildable envelope.</a:t>
            </a:r>
          </a:p>
          <a:p>
            <a:pPr>
              <a:defRPr sz="850">
                <a:solidFill>
                  <a:srgbClr val="E2E8F0"/>
                </a:solidFill>
                <a:latin typeface="Arial"/>
              </a:defRPr>
            </a:pPr>
            <a:r>
              <a:t>•  CP-SAT solver generated 3 Pareto-optimal layouts; Option B selected.</a:t>
            </a:r>
          </a:p>
          <a:p>
            <a:pPr>
              <a:defRPr sz="850">
                <a:solidFill>
                  <a:srgbClr val="E2E8F0"/>
                </a:solidFill>
                <a:latin typeface="Arial"/>
              </a:defRPr>
            </a:pPr>
            <a:r>
              <a:t>•  Compiled semantic CBM 3D model with 12/12 validation checks PASSED.</a:t>
            </a:r>
          </a:p>
          <a:p>
            <a:pPr>
              <a:defRPr sz="850">
                <a:solidFill>
                  <a:srgbClr val="E2E8F0"/>
                </a:solidFill>
                <a:latin typeface="Arial"/>
              </a:defRPr>
            </a:pPr>
            <a:r>
              <a:t>•  Derived IS 1200 QTO: Concrete 29.45 m³, AAC Blockwork 38.12 m³.</a:t>
            </a:r>
          </a:p>
          <a:p>
            <a:pPr>
              <a:defRPr sz="850">
                <a:solidFill>
                  <a:srgbClr val="E2E8F0"/>
                </a:solidFill>
                <a:latin typeface="Arial"/>
              </a:defRPr>
            </a:pPr>
            <a:r>
              <a:t>•  Computed 7-trade BOQ and regional cost waterfall using Q4 2026 rates.</a:t>
            </a:r>
          </a:p>
          <a:p>
            <a:pPr>
              <a:defRPr sz="850">
                <a:solidFill>
                  <a:srgbClr val="E2E8F0"/>
                </a:solidFill>
                <a:latin typeface="Arial"/>
              </a:defRPr>
            </a:pPr>
            <a:r>
              <a:t>•  Persisted immutable release package with SHA-256 fingerprint.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9807" y="3017520"/>
            <a:ext cx="5230368" cy="283464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2687" y="3154680"/>
            <a:ext cx="4864608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PROFESSIONAL GATE AUDIT LEDGER (G0–G6)</a:t>
            </a:r>
          </a:p>
          <a:p>
            <a:pPr>
              <a:defRPr sz="850">
                <a:solidFill>
                  <a:srgbClr val="10B981"/>
                </a:solidFill>
                <a:latin typeface="Arial"/>
              </a:defRPr>
            </a:pPr>
            <a:r>
              <a:t>[G0] Site &amp; Boundary Verification:  VERIFIED — By Registered Surveyor SURV-MH-4421</a:t>
            </a:r>
          </a:p>
          <a:p>
            <a:pPr>
              <a:defRPr sz="850">
                <a:solidFill>
                  <a:srgbClr val="10B981"/>
                </a:solidFill>
                <a:latin typeface="Arial"/>
              </a:defRPr>
            </a:pPr>
            <a:r>
              <a:t>[G1] Regulatory Feasibility Review:  VERIFIED — Mumbai DCPR 2034 setback &amp; FSI compliance</a:t>
            </a:r>
          </a:p>
          <a:p>
            <a:pPr>
              <a:defRPr sz="850">
                <a:solidFill>
                  <a:srgbClr val="10B981"/>
                </a:solidFill>
                <a:latin typeface="Arial"/>
              </a:defRPr>
            </a:pPr>
            <a:r>
              <a:t>[G2] Structural Grid Review:  VERIFIED — IS 456 RC column alignment &amp; spans verified</a:t>
            </a:r>
          </a:p>
          <a:p>
            <a:pPr>
              <a:defRPr sz="850">
                <a:solidFill>
                  <a:srgbClr val="10B981"/>
                </a:solidFill>
                <a:latin typeface="Arial"/>
              </a:defRPr>
            </a:pPr>
            <a:r>
              <a:t>[G3] MEP &amp; Services Review:  VERIFIED — Vertical wet-wall stacking verified</a:t>
            </a:r>
          </a:p>
          <a:p>
            <a:pPr>
              <a:defRPr sz="850">
                <a:solidFill>
                  <a:srgbClr val="10B981"/>
                </a:solidFill>
                <a:latin typeface="Arial"/>
              </a:defRPr>
            </a:pPr>
            <a:r>
              <a:t>[G4] Cost &amp; BOQ Review:  VERIFIED — IS 1200 deductions &amp; regional trade rates</a:t>
            </a:r>
          </a:p>
          <a:p>
            <a:pPr>
              <a:defRPr sz="850">
                <a:solidFill>
                  <a:srgbClr val="F59E0B"/>
                </a:solidFill>
                <a:latin typeface="Arial"/>
              </a:defRPr>
            </a:pPr>
            <a:r>
              <a:t>[G5] Municipal Build Authorization:  LOCKED — Requires formal municipal building submission</a:t>
            </a:r>
          </a:p>
          <a:p>
            <a:pPr>
              <a:defRPr sz="850">
                <a:solidFill>
                  <a:srgbClr val="F59E0B"/>
                </a:solidFill>
                <a:latin typeface="Arial"/>
              </a:defRPr>
            </a:pPr>
            <a:r>
              <a:t>[G6] Contractor Construction Handoff:  LOCKED — Requires executed commercial contract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9436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Controlled single-project pilot successfully executed. Municipal submission (G5) and construction handoff (G6) remain authority-controlled.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rial"/>
              </a:defRPr>
            </a:pPr>
            <a:r>
              <a:t>SYSTEM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Arial"/>
              </a:defRPr>
            </a:pPr>
            <a:r>
              <a:t>Built for traceability, not just visualization.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Arial"/>
              </a:defRPr>
            </a:pPr>
            <a:r>
              <a:t>AI assists with customer preferences; deterministic engineering algorithms and licensed professionals govern the truth.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82512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PLANWISE ENTERPRISE  •  Land-to-Home Development &amp; Construction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8251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Arial"/>
              </a:defRPr>
            </a:pPr>
            <a:r>
              <a:t>8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728655" cy="82296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10362895" cy="640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38BDF8"/>
                </a:solidFill>
                <a:latin typeface="Arial"/>
              </a:defRPr>
            </a:pPr>
            <a:r>
              <a:t>THE DETERMINISTIC TRACEABILITY HIERARCHY</a:t>
            </a:r>
          </a:p>
          <a:p>
            <a:pPr>
              <a:defRPr sz="1100" b="1">
                <a:solidFill>
                  <a:srgbClr val="F8FAFC"/>
                </a:solidFill>
                <a:latin typeface="Arial"/>
              </a:defRPr>
            </a:pPr>
            <a:r>
              <a:t>Survey Evidence  →  Statutory Rules  →  Canonical Model (CBM)  →  Validation Checks  →  Quantities  →  Cost  →  Engineer Ledger  →  Release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43200"/>
            <a:ext cx="5230368" cy="306324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926080"/>
            <a:ext cx="4773168" cy="2697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WHAT ASSISTIVE AI DOES</a:t>
            </a:r>
          </a:p>
          <a:p>
            <a:pPr>
              <a:defRPr sz="1100" b="1">
                <a:solidFill>
                  <a:srgbClr val="F8FAFC"/>
                </a:solidFill>
                <a:latin typeface="Arial"/>
              </a:defRPr>
            </a:pPr>
            <a:r>
              <a:t>Acceleration, natural input, and presentation</a:t>
            </a:r>
          </a:p>
          <a:p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•  Interprets natural language customer design briefs &amp; preferences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•  Assists with spatial adjacency suggestions and preliminary zoning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•  Accelerates 3D visualization rendering and aesthetic styling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•  Generates contextual summaries of complex statutory clauses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9807" y="2743200"/>
            <a:ext cx="5230368" cy="306324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8407" y="2926080"/>
            <a:ext cx="4773168" cy="2697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WHAT DETERMINISTIC RULES &amp; ENGINEERS GOVERN</a:t>
            </a:r>
          </a:p>
          <a:p>
            <a:pPr>
              <a:defRPr sz="1100" b="1">
                <a:solidFill>
                  <a:srgbClr val="F8FAFC"/>
                </a:solidFill>
                <a:latin typeface="Arial"/>
              </a:defRPr>
            </a:pPr>
            <a:r>
              <a:t>Absolute physical, legal &amp; financial invariants</a:t>
            </a:r>
          </a:p>
          <a:p/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✓  Statutory setback distances, road reservations, and FSI caps</a:t>
            </a:r>
          </a:p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✓  Watertight 3D geometry topology and NBC 2016 room dimensions</a:t>
            </a:r>
          </a:p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✓  Structural column alignment, spans, and vertical wet-wall stacking</a:t>
            </a:r>
          </a:p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✓  Model-linked material takeoff calculations (IS 1200 deductions)</a:t>
            </a:r>
          </a:p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✓  Regional trade rate snapshots and construction cost waterfalls</a:t>
            </a:r>
          </a:p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✓  Licensed engineer sign-off and construction authorization (G0–G6)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8978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59E0B"/>
                </a:solidFill>
                <a:latin typeface="Arial"/>
              </a:defRPr>
            </a:pPr>
            <a:r>
              <a:t>Principle: AI never writes authoritative statutory setbacks, structural dimensions, quantities, or construction sign-offs.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rial"/>
              </a:defRPr>
            </a:pPr>
            <a:r>
              <a:t>COMPETITIVE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Arial"/>
              </a:defRPr>
            </a:pPr>
            <a:r>
              <a:t>Why Planwise is different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Arial"/>
              </a:defRPr>
            </a:pPr>
            <a:r>
              <a:t>A structural comparison between Planwise, generative AI tools, and traditional fragmented consulting.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82512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PLANWISE ENTERPRISE  •  Land-to-Home Development &amp; Construction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8251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Arial"/>
              </a:defRPr>
            </a:pPr>
            <a:r>
              <a:t>9 / 16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874519"/>
          <a:ext cx="10728655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926080"/>
                <a:gridCol w="2377440"/>
                <a:gridCol w="2499055"/>
              </a:tblGrid>
              <a:tr h="397763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Platform Dimension</a:t>
                      </a:r>
                    </a:p>
                  </a:txBody>
                  <a:tcPr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Planwise Enterprise</a:t>
                      </a:r>
                    </a:p>
                  </a:txBody>
                  <a:tcPr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Generative AI Tools</a:t>
                      </a:r>
                    </a:p>
                  </a:txBody>
                  <a:tcPr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Traditional Workflow</a:t>
                      </a:r>
                    </a:p>
                  </a:txBody>
                  <a:tcPr>
                    <a:solidFill>
                      <a:srgbClr val="131A26"/>
                    </a:solidFill>
                  </a:tcPr>
                </a:tc>
              </a:tr>
              <a:tr h="397763">
                <a:tc>
                  <a:txBody>
                    <a:bodyPr tIns="36576" bIns="36576"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Land Feasibility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✓  Algorithmic statutory rulepack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—  Ignored / No concept of land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✓  Manual &amp; slow (2–4 weeks)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</a:tr>
              <a:tr h="397763">
                <a:tc>
                  <a:txBody>
                    <a:bodyPr tIns="36576" bIns="36576"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Rule-Aware Design</a:t>
                      </a:r>
                    </a:p>
                  </a:txBody>
                  <a:tcPr>
                    <a:solidFill>
                      <a:srgbClr val="131A26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✓  Multi-constraint CP-SAT solver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—  Unconstrained prompt/pixels</a:t>
                      </a:r>
                    </a:p>
                  </a:txBody>
                  <a:tcPr>
                    <a:solidFill>
                      <a:srgbClr val="131A26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✓  Manual architectural drafting</a:t>
                      </a:r>
                    </a:p>
                  </a:txBody>
                  <a:tcPr>
                    <a:solidFill>
                      <a:srgbClr val="131A26"/>
                    </a:solidFill>
                  </a:tcPr>
                </a:tc>
              </a:tr>
              <a:tr h="397763">
                <a:tc>
                  <a:txBody>
                    <a:bodyPr tIns="36576" bIns="36576"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Canonical 3D Model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✓  Single 3D source of truth (CBM)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—  None (2D flat raster images)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—  Fragmented CAD/BIM files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</a:tr>
              <a:tr h="397763">
                <a:tc>
                  <a:txBody>
                    <a:bodyPr tIns="36576" bIns="36576"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Model-Linked QTO</a:t>
                      </a:r>
                    </a:p>
                  </a:txBody>
                  <a:tcPr>
                    <a:solidFill>
                      <a:srgbClr val="131A26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✓  Automated IS 1200 deductions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—  None</a:t>
                      </a:r>
                    </a:p>
                  </a:txBody>
                  <a:tcPr>
                    <a:solidFill>
                      <a:srgbClr val="131A26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Manual spreadsheet takeoffs</a:t>
                      </a:r>
                    </a:p>
                  </a:txBody>
                  <a:tcPr>
                    <a:solidFill>
                      <a:srgbClr val="131A26"/>
                    </a:solidFill>
                  </a:tcPr>
                </a:tc>
              </a:tr>
              <a:tr h="397763">
                <a:tc>
                  <a:txBody>
                    <a:bodyPr tIns="36576" bIns="36576"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Traceable Costing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✓  Live regional rate waterfall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—  None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Manual estimating / guesswork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</a:tr>
              <a:tr h="397763">
                <a:tc>
                  <a:txBody>
                    <a:bodyPr tIns="36576" bIns="36576"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Professional Gates</a:t>
                      </a:r>
                    </a:p>
                  </a:txBody>
                  <a:tcPr>
                    <a:solidFill>
                      <a:srgbClr val="131A26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✓  Integrated G0–G6 audit ledger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—  None</a:t>
                      </a:r>
                    </a:p>
                  </a:txBody>
                  <a:tcPr>
                    <a:solidFill>
                      <a:srgbClr val="131A26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Separate, delayed reviews</a:t>
                      </a:r>
                    </a:p>
                  </a:txBody>
                  <a:tcPr>
                    <a:solidFill>
                      <a:srgbClr val="131A26"/>
                    </a:solidFill>
                  </a:tcPr>
                </a:tc>
              </a:tr>
              <a:tr h="397763">
                <a:tc>
                  <a:txBody>
                    <a:bodyPr tIns="36576" bIns="36576"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Immutable Release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✓  Cryptographic SHA-256 seal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—  None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—  Uncontrolled file versions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</a:tr>
              <a:tr h="397763">
                <a:tc>
                  <a:txBody>
                    <a:bodyPr tIns="36576" bIns="36576"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Customer Experience</a:t>
                      </a:r>
                    </a:p>
                  </a:txBody>
                  <a:tcPr>
                    <a:solidFill>
                      <a:srgbClr val="131A26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✓  Transparent interactive web app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✓  Simple text prompt</a:t>
                      </a:r>
                    </a:p>
                  </a:txBody>
                  <a:tcPr>
                    <a:solidFill>
                      <a:srgbClr val="131A26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—  Opaque technical documents</a:t>
                      </a:r>
                    </a:p>
                  </a:txBody>
                  <a:tcPr>
                    <a:solidFill>
                      <a:srgbClr val="131A26"/>
                    </a:solidFill>
                  </a:tcPr>
                </a:tc>
              </a:tr>
              <a:tr h="397772">
                <a:tc>
                  <a:txBody>
                    <a:bodyPr tIns="36576" bIns="36576"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Construction Path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✓  Exportable IFC4 BIM &amp; BOQ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—  Pure artistic concept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✓  Disjointed trade handoffs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59436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59E0B"/>
                </a:solidFill>
                <a:latin typeface="Arial"/>
              </a:defRPr>
            </a:pPr>
            <a:r>
              <a:t>Planwise is not an image generator or CAD viewer; it is a full-stack computational development engine.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rial"/>
              </a:defRPr>
            </a:pPr>
            <a:r>
              <a:t>COMMERCIAL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Arial"/>
              </a:defRPr>
            </a:pPr>
            <a:r>
              <a:t>How Planwise can become a business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Arial"/>
              </a:defRPr>
            </a:pPr>
            <a:r>
              <a:t>A pragmatic B2B / B2B2C business model combining transaction fees with recurring software subscriptions.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82512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PLANWISE ENTERPRISE  •  Land-to-Home Development &amp; Construction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8251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Arial"/>
              </a:defRPr>
            </a:pPr>
            <a:r>
              <a:t>10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74519"/>
            <a:ext cx="2542032" cy="3977639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57399"/>
            <a:ext cx="2176272" cy="3611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Arial"/>
              </a:defRPr>
            </a:pPr>
            <a:r>
              <a:t>REVENUE STREAM 01</a:t>
            </a:r>
          </a:p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Per-Project Release Fee</a:t>
            </a:r>
          </a:p>
          <a:p>
            <a:pPr>
              <a:defRPr sz="800" b="1">
                <a:solidFill>
                  <a:srgbClr val="F59E0B"/>
                </a:solidFill>
                <a:latin typeface="Arial"/>
              </a:defRPr>
            </a:pPr>
            <a:r>
              <a:t>TRANSACTION / USAGE</a:t>
            </a:r>
          </a:p>
          <a:p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Tiered project release fee charged upon generating verified project packages, stamped IFC4 BIM models, and tender-ready BOQs.</a:t>
            </a:r>
          </a:p>
          <a:p/>
          <a:p>
            <a:pPr>
              <a:defRPr sz="900">
                <a:solidFill>
                  <a:srgbClr val="E2E8F0"/>
                </a:solidFill>
                <a:latin typeface="Arial"/>
              </a:defRPr>
            </a:pPr>
            <a:r>
              <a:t>•  Paid by landowners, builders, or project sponsors</a:t>
            </a:r>
          </a:p>
          <a:p>
            <a:pPr>
              <a:defRPr sz="900">
                <a:solidFill>
                  <a:srgbClr val="E2E8F0"/>
                </a:solidFill>
                <a:latin typeface="Arial"/>
              </a:defRPr>
            </a:pPr>
            <a:r>
              <a:t>•  Low barrier to entry for one-off residential projects</a:t>
            </a:r>
          </a:p>
          <a:p>
            <a:pPr>
              <a:defRPr sz="900">
                <a:solidFill>
                  <a:srgbClr val="E2E8F0"/>
                </a:solidFill>
                <a:latin typeface="Arial"/>
              </a:defRPr>
            </a:pPr>
            <a:r>
              <a:t>•  Scales directly with total development volume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1874519"/>
            <a:ext cx="2542032" cy="3977639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2057399"/>
            <a:ext cx="2176272" cy="3611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Arial"/>
              </a:defRPr>
            </a:pPr>
            <a:r>
              <a:t>REVENUE STREAM 02</a:t>
            </a:r>
          </a:p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Professional SaaS</a:t>
            </a:r>
          </a:p>
          <a:p>
            <a:pPr>
              <a:defRPr sz="800" b="1">
                <a:solidFill>
                  <a:srgbClr val="F59E0B"/>
                </a:solidFill>
                <a:latin typeface="Arial"/>
              </a:defRPr>
            </a:pPr>
            <a:r>
              <a:t>B2B RECURRING SEAT</a:t>
            </a:r>
          </a:p>
          <a:p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Seat-based monthly/annual workflow subscription for architectural practices, structural engineers, and registered land surveyors.</a:t>
            </a:r>
          </a:p>
          <a:p/>
          <a:p>
            <a:pPr>
              <a:defRPr sz="900">
                <a:solidFill>
                  <a:srgbClr val="E2E8F0"/>
                </a:solidFill>
                <a:latin typeface="Arial"/>
              </a:defRPr>
            </a:pPr>
            <a:r>
              <a:t>•  Dedicated review ledgers &amp; rulepack customizations</a:t>
            </a:r>
          </a:p>
          <a:p>
            <a:pPr>
              <a:defRPr sz="900">
                <a:solidFill>
                  <a:srgbClr val="E2E8F0"/>
                </a:solidFill>
                <a:latin typeface="Arial"/>
              </a:defRPr>
            </a:pPr>
            <a:r>
              <a:t>•  Increases professional review throughput by 5–10x</a:t>
            </a:r>
          </a:p>
          <a:p>
            <a:pPr>
              <a:defRPr sz="900">
                <a:solidFill>
                  <a:srgbClr val="E2E8F0"/>
                </a:solidFill>
                <a:latin typeface="Arial"/>
              </a:defRPr>
            </a:pPr>
            <a:r>
              <a:t>•  Sticky professional toolchain integration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874519"/>
            <a:ext cx="2542032" cy="3977639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2057399"/>
            <a:ext cx="2176272" cy="3611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Arial"/>
              </a:defRPr>
            </a:pPr>
            <a:r>
              <a:t>REVENUE STREAM 03</a:t>
            </a:r>
          </a:p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Builder Enterprise Tier</a:t>
            </a:r>
          </a:p>
          <a:p>
            <a:pPr>
              <a:defRPr sz="800" b="1">
                <a:solidFill>
                  <a:srgbClr val="F59E0B"/>
                </a:solidFill>
                <a:latin typeface="Arial"/>
              </a:defRPr>
            </a:pPr>
            <a:r>
              <a:t>B2B ANNUAL LICENSE</a:t>
            </a:r>
          </a:p>
          <a:p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Annual enterprise software license for residential builders and real-estate plotting developers managing ongoing project pipelines.</a:t>
            </a:r>
          </a:p>
          <a:p/>
          <a:p>
            <a:pPr>
              <a:defRPr sz="900">
                <a:solidFill>
                  <a:srgbClr val="E2E8F0"/>
                </a:solidFill>
                <a:latin typeface="Arial"/>
              </a:defRPr>
            </a:pPr>
            <a:r>
              <a:t>•  Unlimited parcel feasibility screenings</a:t>
            </a:r>
          </a:p>
          <a:p>
            <a:pPr>
              <a:defRPr sz="900">
                <a:solidFill>
                  <a:srgbClr val="E2E8F0"/>
                </a:solidFill>
                <a:latin typeface="Arial"/>
              </a:defRPr>
            </a:pPr>
            <a:r>
              <a:t>•  Standardized house typology catalogues</a:t>
            </a:r>
          </a:p>
          <a:p>
            <a:pPr>
              <a:defRPr sz="900">
                <a:solidFill>
                  <a:srgbClr val="E2E8F0"/>
                </a:solidFill>
                <a:latin typeface="Arial"/>
              </a:defRPr>
            </a:pPr>
            <a:r>
              <a:t>•  Direct procurement &amp; supplier integration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6256" y="1874519"/>
            <a:ext cx="2542032" cy="3977639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89136" y="2057399"/>
            <a:ext cx="2176272" cy="3611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Arial"/>
              </a:defRPr>
            </a:pPr>
            <a:r>
              <a:t>REVENUE STREAM 04</a:t>
            </a:r>
          </a:p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Computational API</a:t>
            </a:r>
          </a:p>
          <a:p>
            <a:pPr>
              <a:defRPr sz="800" b="1">
                <a:solidFill>
                  <a:srgbClr val="F59E0B"/>
                </a:solidFill>
                <a:latin typeface="Arial"/>
              </a:defRPr>
            </a:pPr>
            <a:r>
              <a:t>INFRASTRUCTURE LICENSING</a:t>
            </a:r>
          </a:p>
          <a:p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Headless API licensing for GIS portals, mortgage pre-qualification platforms, and property tech networks.</a:t>
            </a:r>
          </a:p>
          <a:p/>
          <a:p>
            <a:pPr>
              <a:defRPr sz="900">
                <a:solidFill>
                  <a:srgbClr val="E2E8F0"/>
                </a:solidFill>
                <a:latin typeface="Arial"/>
              </a:defRPr>
            </a:pPr>
            <a:r>
              <a:t>•  Instant setback, FSI, and cost estimation APIs</a:t>
            </a:r>
          </a:p>
          <a:p>
            <a:pPr>
              <a:defRPr sz="900">
                <a:solidFill>
                  <a:srgbClr val="E2E8F0"/>
                </a:solidFill>
                <a:latin typeface="Arial"/>
              </a:defRPr>
            </a:pPr>
            <a:r>
              <a:t>•  High-volume, automated developer queries</a:t>
            </a:r>
          </a:p>
          <a:p>
            <a:pPr>
              <a:defRPr sz="900">
                <a:solidFill>
                  <a:srgbClr val="E2E8F0"/>
                </a:solidFill>
                <a:latin typeface="Arial"/>
              </a:defRPr>
            </a:pPr>
            <a:r>
              <a:t>•  High-margin, low-touch software distribution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436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Commercial model aligns incentives: Developers save pre-construction time; professionals expand billable review capacity.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rial"/>
              </a:defRPr>
            </a:pPr>
            <a:r>
              <a:t>CUSTOMER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Arial"/>
              </a:defRPr>
            </a:pPr>
            <a:r>
              <a:t>Who pays and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Arial"/>
              </a:defRPr>
            </a:pPr>
            <a:r>
              <a:t>A segmented breakdown of paying customers across the residential development ecosystem.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82512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PLANWISE ENTERPRISE  •  Land-to-Home Development &amp; Construction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8251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Arial"/>
              </a:defRPr>
            </a:pPr>
            <a:r>
              <a:t>11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74519"/>
            <a:ext cx="3364992" cy="3977639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57399"/>
            <a:ext cx="2999232" cy="3611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PRIMARY CUSTOMERS</a:t>
            </a:r>
          </a:p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Immediate Go-to-Market Focus</a:t>
            </a:r>
          </a:p>
          <a:p/>
          <a:p>
            <a:pPr>
              <a:defRPr sz="1000" b="1">
                <a:solidFill>
                  <a:srgbClr val="F8FAFC"/>
                </a:solidFill>
                <a:latin typeface="Arial"/>
              </a:defRPr>
            </a:pPr>
            <a:r>
              <a:t>Residential Builders</a:t>
            </a:r>
          </a:p>
          <a:p>
            <a:pPr>
              <a:defRPr sz="880">
                <a:solidFill>
                  <a:srgbClr val="94A3B8"/>
                </a:solidFill>
                <a:latin typeface="Arial"/>
              </a:defRPr>
            </a:pPr>
            <a:r>
              <a:t>Evaluate land parcels in hours instead of weeks; generate accurate initial cost envelopes before committing capital.</a:t>
            </a:r>
          </a:p>
          <a:p/>
          <a:p>
            <a:pPr>
              <a:defRPr sz="1000" b="1">
                <a:solidFill>
                  <a:srgbClr val="F8FAFC"/>
                </a:solidFill>
                <a:latin typeface="Arial"/>
              </a:defRPr>
            </a:pPr>
            <a:r>
              <a:t>Property Developers</a:t>
            </a:r>
          </a:p>
          <a:p>
            <a:pPr>
              <a:defRPr sz="880">
                <a:solidFill>
                  <a:srgbClr val="94A3B8"/>
                </a:solidFill>
                <a:latin typeface="Arial"/>
              </a:defRPr>
            </a:pPr>
            <a:r>
              <a:t>Compress project kickoff cycles, eliminate manual re-drafting, and standardize multi-plot developments.</a:t>
            </a:r>
          </a:p>
          <a:p/>
          <a:p>
            <a:pPr>
              <a:defRPr sz="1000" b="1">
                <a:solidFill>
                  <a:srgbClr val="F8FAFC"/>
                </a:solidFill>
                <a:latin typeface="Arial"/>
              </a:defRPr>
            </a:pPr>
            <a:r>
              <a:t>Architectural Practices</a:t>
            </a:r>
          </a:p>
          <a:p>
            <a:pPr>
              <a:defRPr sz="880">
                <a:solidFill>
                  <a:srgbClr val="94A3B8"/>
                </a:solidFill>
                <a:latin typeface="Arial"/>
              </a:defRPr>
            </a:pPr>
            <a:r>
              <a:t>Automate tedious statutory zoning and schematic drafting, focusing billable hours on high-value creative detailing.</a:t>
            </a:r>
          </a:p>
          <a:p/>
          <a:p>
            <a:pPr>
              <a:defRPr sz="1000" b="1">
                <a:solidFill>
                  <a:srgbClr val="F8FAFC"/>
                </a:solidFill>
                <a:latin typeface="Arial"/>
              </a:defRPr>
            </a:pPr>
            <a:r>
              <a:t>Structural Engineering Firms</a:t>
            </a:r>
          </a:p>
          <a:p>
            <a:pPr>
              <a:defRPr sz="880">
                <a:solidFill>
                  <a:srgbClr val="94A3B8"/>
                </a:solidFill>
                <a:latin typeface="Arial"/>
              </a:defRPr>
            </a:pPr>
            <a:r>
              <a:t>Receive pre-coordinated geometric models with verified site boundaries, enabling efficient paid gate reviews.</a:t>
            </a:r>
          </a:p>
          <a:p/>
        </p:txBody>
      </p:sp>
      <p:sp>
        <p:nvSpPr>
          <p:cNvPr id="11" name="Rounded Rectangle 10"/>
          <p:cNvSpPr/>
          <p:nvPr/>
        </p:nvSpPr>
        <p:spPr>
          <a:xfrm>
            <a:off x="4407408" y="1874519"/>
            <a:ext cx="3364992" cy="3977639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2057399"/>
            <a:ext cx="2999232" cy="3611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SECONDARY CUSTOMERS</a:t>
            </a:r>
          </a:p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Growth Tier &amp; Construction Partners</a:t>
            </a:r>
          </a:p>
          <a:p/>
          <a:p>
            <a:pPr>
              <a:defRPr sz="1000" b="1">
                <a:solidFill>
                  <a:srgbClr val="F8FAFC"/>
                </a:solidFill>
                <a:latin typeface="Arial"/>
              </a:defRPr>
            </a:pPr>
            <a:r>
              <a:t>General Contractors</a:t>
            </a:r>
          </a:p>
          <a:p>
            <a:pPr>
              <a:defRPr sz="880">
                <a:solidFill>
                  <a:srgbClr val="94A3B8"/>
                </a:solidFill>
                <a:latin typeface="Arial"/>
              </a:defRPr>
            </a:pPr>
            <a:r>
              <a:t>Receive verified 7-trade BOQs tied directly to 3D model elements, drastically reducing bid disputes and variation claims.</a:t>
            </a:r>
          </a:p>
          <a:p/>
          <a:p>
            <a:pPr>
              <a:defRPr sz="1000" b="1">
                <a:solidFill>
                  <a:srgbClr val="F8FAFC"/>
                </a:solidFill>
                <a:latin typeface="Arial"/>
              </a:defRPr>
            </a:pPr>
            <a:r>
              <a:t>Real-Estate Advisory Firms</a:t>
            </a:r>
          </a:p>
          <a:p>
            <a:pPr>
              <a:defRPr sz="880">
                <a:solidFill>
                  <a:srgbClr val="94A3B8"/>
                </a:solidFill>
                <a:latin typeface="Arial"/>
              </a:defRPr>
            </a:pPr>
            <a:r>
              <a:t>Instant zoning, FSI, and feasibility assessments to accelerate high-value land brokerage transactions.</a:t>
            </a:r>
          </a:p>
          <a:p/>
          <a:p>
            <a:pPr>
              <a:defRPr sz="1000" b="1">
                <a:solidFill>
                  <a:srgbClr val="F8FAFC"/>
                </a:solidFill>
                <a:latin typeface="Arial"/>
              </a:defRPr>
            </a:pPr>
            <a:r>
              <a:t>Housing Plotting Networks</a:t>
            </a:r>
          </a:p>
          <a:p>
            <a:pPr>
              <a:defRPr sz="880">
                <a:solidFill>
                  <a:srgbClr val="94A3B8"/>
                </a:solidFill>
                <a:latin typeface="Arial"/>
              </a:defRPr>
            </a:pPr>
            <a:r>
              <a:t>Scale standardized residential typologies across large plotted land subdivisions.</a:t>
            </a:r>
          </a:p>
          <a:p/>
        </p:txBody>
      </p:sp>
      <p:sp>
        <p:nvSpPr>
          <p:cNvPr id="13" name="Rounded Rectangle 12"/>
          <p:cNvSpPr/>
          <p:nvPr/>
        </p:nvSpPr>
        <p:spPr>
          <a:xfrm>
            <a:off x="8083296" y="1874519"/>
            <a:ext cx="3364992" cy="3977639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6" y="2057399"/>
            <a:ext cx="2999232" cy="3611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FUTURE CUSTOMERS</a:t>
            </a:r>
          </a:p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Enterprise Scale &amp; Institutions</a:t>
            </a:r>
          </a:p>
          <a:p/>
          <a:p>
            <a:pPr>
              <a:defRPr sz="1000" b="1">
                <a:solidFill>
                  <a:srgbClr val="F8FAFC"/>
                </a:solidFill>
                <a:latin typeface="Arial"/>
              </a:defRPr>
            </a:pPr>
            <a:r>
              <a:t>Proptech Portals &amp; Networks</a:t>
            </a:r>
          </a:p>
          <a:p>
            <a:pPr>
              <a:defRPr sz="880">
                <a:solidFill>
                  <a:srgbClr val="94A3B8"/>
                </a:solidFill>
                <a:latin typeface="Arial"/>
              </a:defRPr>
            </a:pPr>
            <a:r>
              <a:t>Embed automated feasibility and development intelligence directly into property listing platforms.</a:t>
            </a:r>
          </a:p>
          <a:p/>
          <a:p>
            <a:pPr>
              <a:defRPr sz="1000" b="1">
                <a:solidFill>
                  <a:srgbClr val="F8FAFC"/>
                </a:solidFill>
                <a:latin typeface="Arial"/>
              </a:defRPr>
            </a:pPr>
            <a:r>
              <a:t>Housing Authorities &amp; Municipalities</a:t>
            </a:r>
          </a:p>
          <a:p>
            <a:pPr>
              <a:defRPr sz="880">
                <a:solidFill>
                  <a:srgbClr val="94A3B8"/>
                </a:solidFill>
                <a:latin typeface="Arial"/>
              </a:defRPr>
            </a:pPr>
            <a:r>
              <a:t>Automated regulatory compliance pre-checking for municipal building permit submissions.</a:t>
            </a:r>
          </a:p>
          <a:p/>
          <a:p>
            <a:pPr>
              <a:defRPr sz="1000" b="1">
                <a:solidFill>
                  <a:srgbClr val="F8FAFC"/>
                </a:solidFill>
                <a:latin typeface="Arial"/>
              </a:defRPr>
            </a:pPr>
            <a:r>
              <a:t>Industrialized &amp; Modular Builders</a:t>
            </a:r>
          </a:p>
          <a:p>
            <a:pPr>
              <a:defRPr sz="880">
                <a:solidFill>
                  <a:srgbClr val="94A3B8"/>
                </a:solidFill>
                <a:latin typeface="Arial"/>
              </a:defRPr>
            </a:pPr>
            <a:r>
              <a:t>Direct computational data feed into offsite pre-cast and modular manufacturing factories.</a:t>
            </a:r>
          </a:p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rial"/>
              </a:defRPr>
            </a:pPr>
            <a:r>
              <a:t>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Arial"/>
              </a:defRPr>
            </a:pPr>
            <a:r>
              <a:t>Why would a professional organization pay?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Arial"/>
              </a:defRPr>
            </a:pPr>
            <a:r>
              <a:t>Measurable operational efficiency, risk mitigation, and transparency for every stakeholder.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82512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PLANWISE ENTERPRISE  •  Land-to-Home Development &amp; Construction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8251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Arial"/>
              </a:defRPr>
            </a:pPr>
            <a:r>
              <a:t>12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74519"/>
            <a:ext cx="5230368" cy="192024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11679"/>
            <a:ext cx="4773168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FOR THE BUILDER &amp; DEVELOPER</a:t>
            </a:r>
          </a:p>
          <a:p>
            <a:pPr>
              <a:defRPr sz="900" b="1">
                <a:solidFill>
                  <a:srgbClr val="94A3B8"/>
                </a:solidFill>
                <a:latin typeface="Arial"/>
              </a:defRPr>
            </a:pPr>
            <a:r>
              <a:t>Capital Efficiency &amp; Risk Reduction</a:t>
            </a:r>
          </a:p>
          <a:p/>
          <a:p>
            <a:pPr>
              <a:defRPr sz="880">
                <a:solidFill>
                  <a:srgbClr val="E2E8F0"/>
                </a:solidFill>
                <a:latin typeface="Arial"/>
              </a:defRPr>
            </a:pPr>
            <a:r>
              <a:t>•  Accelerates land evaluation from weeks to hours before committing land acquisition capital</a:t>
            </a:r>
          </a:p>
          <a:p>
            <a:pPr>
              <a:defRPr sz="880">
                <a:solidFill>
                  <a:srgbClr val="E2E8F0"/>
                </a:solidFill>
                <a:latin typeface="Arial"/>
              </a:defRPr>
            </a:pPr>
            <a:r>
              <a:t>•  Eliminates early-stage cost blindspots with model-linked regional rate snapshots</a:t>
            </a:r>
          </a:p>
          <a:p>
            <a:pPr>
              <a:defRPr sz="880">
                <a:solidFill>
                  <a:srgbClr val="E2E8F0"/>
                </a:solidFill>
                <a:latin typeface="Arial"/>
              </a:defRPr>
            </a:pPr>
            <a:r>
              <a:t>•  Standardizes pre-construction development workflows across distributed project teams</a:t>
            </a:r>
          </a:p>
          <a:p>
            <a:pPr>
              <a:defRPr sz="880">
                <a:solidFill>
                  <a:srgbClr val="E2E8F0"/>
                </a:solidFill>
                <a:latin typeface="Arial"/>
              </a:defRPr>
            </a:pPr>
            <a:r>
              <a:t>•  Drastically reduces downstream change orders and construction contractor claims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9807" y="1874519"/>
            <a:ext cx="5230368" cy="192024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8407" y="2011679"/>
            <a:ext cx="4773168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FOR THE ARCHITECTURAL PRACTICE</a:t>
            </a:r>
          </a:p>
          <a:p>
            <a:pPr>
              <a:defRPr sz="900" b="1">
                <a:solidFill>
                  <a:srgbClr val="94A3B8"/>
                </a:solidFill>
                <a:latin typeface="Arial"/>
              </a:defRPr>
            </a:pPr>
            <a:r>
              <a:t>Throughput &amp; Workflow Modernization</a:t>
            </a:r>
          </a:p>
          <a:p/>
          <a:p>
            <a:pPr>
              <a:defRPr sz="880">
                <a:solidFill>
                  <a:srgbClr val="E2E8F0"/>
                </a:solidFill>
                <a:latin typeface="Arial"/>
              </a:defRPr>
            </a:pPr>
            <a:r>
              <a:t>•  Replaces manual setback drafting and statutory zoning calculations with automated rulepacks</a:t>
            </a:r>
          </a:p>
          <a:p>
            <a:pPr>
              <a:defRPr sz="880">
                <a:solidFill>
                  <a:srgbClr val="E2E8F0"/>
                </a:solidFill>
                <a:latin typeface="Arial"/>
              </a:defRPr>
            </a:pPr>
            <a:r>
              <a:t>•  Generates mathematically sound starting baselines (CBM) ready for creative refinement</a:t>
            </a:r>
          </a:p>
          <a:p>
            <a:pPr>
              <a:defRPr sz="880">
                <a:solidFill>
                  <a:srgbClr val="E2E8F0"/>
                </a:solidFill>
                <a:latin typeface="Arial"/>
              </a:defRPr>
            </a:pPr>
            <a:r>
              <a:t>•  Eliminates tedious re-drawing when clients modify basic spatial or budgetary preferences</a:t>
            </a:r>
          </a:p>
          <a:p>
            <a:pPr>
              <a:defRPr sz="880">
                <a:solidFill>
                  <a:srgbClr val="E2E8F0"/>
                </a:solidFill>
                <a:latin typeface="Arial"/>
              </a:defRPr>
            </a:pPr>
            <a:r>
              <a:t>•  Expands firm design capacity without proportionally increasing drafting overhead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59"/>
            <a:ext cx="5230368" cy="192024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160519"/>
            <a:ext cx="4773168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FOR THE STRUCTURAL &amp; MEP ENGINEER</a:t>
            </a:r>
          </a:p>
          <a:p>
            <a:pPr>
              <a:defRPr sz="900" b="1">
                <a:solidFill>
                  <a:srgbClr val="94A3B8"/>
                </a:solidFill>
                <a:latin typeface="Arial"/>
              </a:defRPr>
            </a:pPr>
            <a:r>
              <a:t>Traceability &amp; Controlled Governance</a:t>
            </a:r>
          </a:p>
          <a:p/>
          <a:p>
            <a:pPr>
              <a:defRPr sz="880">
                <a:solidFill>
                  <a:srgbClr val="E2E8F0"/>
                </a:solidFill>
                <a:latin typeface="Arial"/>
              </a:defRPr>
            </a:pPr>
            <a:r>
              <a:t>•  Receives pre-coordinated geometric models with verified geodetic site boundaries</a:t>
            </a:r>
          </a:p>
          <a:p>
            <a:pPr>
              <a:defRPr sz="880">
                <a:solidFill>
                  <a:srgbClr val="E2E8F0"/>
                </a:solidFill>
                <a:latin typeface="Arial"/>
              </a:defRPr>
            </a:pPr>
            <a:r>
              <a:t>•  Enforces explicit professional review gates (G0–G6) backed by immutable audit trails</a:t>
            </a:r>
          </a:p>
          <a:p>
            <a:pPr>
              <a:defRPr sz="880">
                <a:solidFill>
                  <a:srgbClr val="E2E8F0"/>
                </a:solidFill>
                <a:latin typeface="Arial"/>
              </a:defRPr>
            </a:pPr>
            <a:r>
              <a:t>•  Verifies RC column grids and vertical wet-wall stacking before detailed calculations</a:t>
            </a:r>
          </a:p>
          <a:p>
            <a:pPr>
              <a:defRPr sz="880">
                <a:solidFill>
                  <a:srgbClr val="E2E8F0"/>
                </a:solidFill>
                <a:latin typeface="Arial"/>
              </a:defRPr>
            </a:pPr>
            <a:r>
              <a:t>•  Protects professional liability with clear, tamper-evident sign-off records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9807" y="4023359"/>
            <a:ext cx="5230368" cy="192024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8407" y="4160519"/>
            <a:ext cx="4773168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Arial"/>
              </a:defRPr>
            </a:pPr>
            <a:r>
              <a:t>FOR THE LANDOWNER &amp; CUSTOMER</a:t>
            </a:r>
          </a:p>
          <a:p>
            <a:pPr>
              <a:defRPr sz="900" b="1">
                <a:solidFill>
                  <a:srgbClr val="94A3B8"/>
                </a:solidFill>
                <a:latin typeface="Arial"/>
              </a:defRPr>
            </a:pPr>
            <a:r>
              <a:t>Transparency &amp; Informed Decisions</a:t>
            </a:r>
          </a:p>
          <a:p/>
          <a:p>
            <a:pPr>
              <a:defRPr sz="880">
                <a:solidFill>
                  <a:srgbClr val="E2E8F0"/>
                </a:solidFill>
                <a:latin typeface="Arial"/>
              </a:defRPr>
            </a:pPr>
            <a:r>
              <a:t>•  Demystifies complex municipal bylaws and construction planning into clear choices</a:t>
            </a:r>
          </a:p>
          <a:p>
            <a:pPr>
              <a:defRPr sz="880">
                <a:solidFill>
                  <a:srgbClr val="E2E8F0"/>
                </a:solidFill>
                <a:latin typeface="Arial"/>
              </a:defRPr>
            </a:pPr>
            <a:r>
              <a:t>•  Guaranteed consistency: The selected floor plan strictly drives material quantities and cost</a:t>
            </a:r>
          </a:p>
          <a:p>
            <a:pPr>
              <a:defRPr sz="880">
                <a:solidFill>
                  <a:srgbClr val="E2E8F0"/>
                </a:solidFill>
                <a:latin typeface="Arial"/>
              </a:defRPr>
            </a:pPr>
            <a:r>
              <a:t>•  Avoids contractor budget shocks by establishing an audited preliminary cost baseline</a:t>
            </a:r>
          </a:p>
          <a:p>
            <a:pPr>
              <a:defRPr sz="880">
                <a:solidFill>
                  <a:srgbClr val="E2E8F0"/>
                </a:solidFill>
                <a:latin typeface="Arial"/>
              </a:defRPr>
            </a:pPr>
            <a:r>
              <a:t>•  Provides a clear, verified roadmap to licensed construction execution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rial"/>
              </a:defRPr>
            </a:pPr>
            <a:r>
              <a:t>COMPETITIVE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Arial"/>
              </a:defRPr>
            </a:pPr>
            <a:r>
              <a:t>The moat is the system, not the AI image.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Arial"/>
              </a:defRPr>
            </a:pPr>
            <a:r>
              <a:t>Defensibility is rooted in the tightly coupled, version-controlled computational graph linking physical land to cost.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82512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PLANWISE ENTERPRISE  •  Land-to-Home Development &amp; Construction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8251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Arial"/>
              </a:defRPr>
            </a:pPr>
            <a:r>
              <a:t>13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728655" cy="96012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10362895" cy="7772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38BDF8"/>
                </a:solidFill>
                <a:latin typeface="Arial"/>
              </a:defRPr>
            </a:pPr>
            <a:r>
              <a:t>THE CONNECTED COMPUTATIONAL GRAPH</a:t>
            </a:r>
          </a:p>
          <a:p>
            <a:pPr>
              <a:defRPr sz="1100" b="1">
                <a:solidFill>
                  <a:srgbClr val="F8FAFC"/>
                </a:solidFill>
                <a:latin typeface="Arial"/>
              </a:defRPr>
            </a:pPr>
            <a:r>
              <a:t>Site Intelligence  +  Statutory Rules  +  CP-SAT Solvers  +  Canonical 3D Model (CBM)  +  IS 1200 QTO  +  Cost Engine  +  Review Ledger</a:t>
            </a:r>
          </a:p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A change in any layer propagates mathematically across every downstream artifact in milliseconds.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26080"/>
            <a:ext cx="3364992" cy="292608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90672"/>
            <a:ext cx="2999232" cy="2596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Arial"/>
              </a:defRPr>
            </a:pPr>
            <a:r>
              <a:t>DEFENSIBILITY PILLAR 01</a:t>
            </a:r>
          </a:p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Coordinated Change Propagation</a:t>
            </a:r>
          </a:p>
          <a:p>
            <a:pPr>
              <a:defRPr sz="900">
                <a:solidFill>
                  <a:srgbClr val="F59E0B"/>
                </a:solidFill>
                <a:latin typeface="Arial"/>
              </a:defRPr>
            </a:pPr>
            <a:r>
              <a:t>Physical &amp; mathematical binding</a:t>
            </a:r>
          </a:p>
          <a:p/>
          <a:p>
            <a:pPr>
              <a:defRPr sz="880">
                <a:solidFill>
                  <a:srgbClr val="94A3B8"/>
                </a:solidFill>
                <a:latin typeface="Arial"/>
              </a:defRPr>
            </a:pPr>
            <a:r>
              <a:t>•  A 0.5m modification to a site boundary instantly cascades through statutory setbacks, CP-SAT room envelopes, 3D geometry, concrete quantities, and cost waterfalls.</a:t>
            </a:r>
          </a:p>
          <a:p>
            <a:pPr>
              <a:defRPr sz="880">
                <a:solidFill>
                  <a:srgbClr val="94A3B8"/>
                </a:solidFill>
                <a:latin typeface="Arial"/>
              </a:defRPr>
            </a:pPr>
            <a:r>
              <a:t>•  Standalone CAD, BIM, or estimating software cannot propagate changes across disciplines automatically.</a:t>
            </a:r>
          </a:p>
          <a:p>
            <a:pPr>
              <a:defRPr sz="880">
                <a:solidFill>
                  <a:srgbClr val="94A3B8"/>
                </a:solidFill>
                <a:latin typeface="Arial"/>
              </a:defRPr>
            </a:pPr>
            <a:r>
              <a:t>•  Prevents costly human errors and synchronization gaps.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2926080"/>
            <a:ext cx="3364992" cy="292608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3090672"/>
            <a:ext cx="2999232" cy="2596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Arial"/>
              </a:defRPr>
            </a:pPr>
            <a:r>
              <a:t>DEFENSIBILITY PILLAR 02</a:t>
            </a:r>
          </a:p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Deterministic Integrity</a:t>
            </a:r>
          </a:p>
          <a:p>
            <a:pPr>
              <a:defRPr sz="900">
                <a:solidFill>
                  <a:srgbClr val="F59E0B"/>
                </a:solidFill>
                <a:latin typeface="Arial"/>
              </a:defRPr>
            </a:pPr>
            <a:r>
              <a:t>Auditable engineering proofs</a:t>
            </a:r>
          </a:p>
          <a:p/>
          <a:p>
            <a:pPr>
              <a:defRPr sz="880">
                <a:solidFill>
                  <a:srgbClr val="94A3B8"/>
                </a:solidFill>
                <a:latin typeface="Arial"/>
              </a:defRPr>
            </a:pPr>
            <a:r>
              <a:t>•  Unlike probabilistic AI image generators that hallucinate impossible layouts, Planwise relies on formal constraint satisfaction (Google OR-Tools).</a:t>
            </a:r>
          </a:p>
          <a:p>
            <a:pPr>
              <a:defRPr sz="880">
                <a:solidFill>
                  <a:srgbClr val="94A3B8"/>
                </a:solidFill>
                <a:latin typeface="Arial"/>
              </a:defRPr>
            </a:pPr>
            <a:r>
              <a:t>•  Every calculation produces an auditable geometric and arithmetic proof suitable for licensed engineers.</a:t>
            </a:r>
          </a:p>
          <a:p>
            <a:pPr>
              <a:defRPr sz="880">
                <a:solidFill>
                  <a:srgbClr val="94A3B8"/>
                </a:solidFill>
                <a:latin typeface="Arial"/>
              </a:defRPr>
            </a:pPr>
            <a:r>
              <a:t>•  Creates legal and regulatory defensibility that builds institutional trust.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2926080"/>
            <a:ext cx="3364992" cy="292608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090672"/>
            <a:ext cx="2999232" cy="2596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Arial"/>
              </a:defRPr>
            </a:pPr>
            <a:r>
              <a:t>DEFENSIBILITY PILLAR 03</a:t>
            </a:r>
          </a:p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Institutional Rulepack Moat</a:t>
            </a:r>
          </a:p>
          <a:p>
            <a:pPr>
              <a:defRPr sz="900">
                <a:solidFill>
                  <a:srgbClr val="F59E0B"/>
                </a:solidFill>
                <a:latin typeface="Arial"/>
              </a:defRPr>
            </a:pPr>
            <a:r>
              <a:t>Accumulating regional intelligence</a:t>
            </a:r>
          </a:p>
          <a:p/>
          <a:p>
            <a:pPr>
              <a:defRPr sz="880">
                <a:solidFill>
                  <a:srgbClr val="94A3B8"/>
                </a:solidFill>
                <a:latin typeface="Arial"/>
              </a:defRPr>
            </a:pPr>
            <a:r>
              <a:t>•  Local municipal bylaws (e.g. Mumbai DCPR 2034) and regional trade rate snapshots build an expanding institutional data barrier.</a:t>
            </a:r>
          </a:p>
          <a:p>
            <a:pPr>
              <a:defRPr sz="880">
                <a:solidFill>
                  <a:srgbClr val="94A3B8"/>
                </a:solidFill>
                <a:latin typeface="Arial"/>
              </a:defRPr>
            </a:pPr>
            <a:r>
              <a:t>•  Expanding rulepacks create high switching costs once builders and developers standardize on Planwise.</a:t>
            </a:r>
          </a:p>
          <a:p>
            <a:pPr>
              <a:defRPr sz="880">
                <a:solidFill>
                  <a:srgbClr val="94A3B8"/>
                </a:solidFill>
                <a:latin typeface="Arial"/>
              </a:defRPr>
            </a:pPr>
            <a:r>
              <a:t>•  Network effects: More verified pilot projects enhance regional rate and rule accuracy.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436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Defensibility comes from connecting these layers into one versioned, auditable workflow.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rial"/>
              </a:defRPr>
            </a:pPr>
            <a:r>
              <a:t>PLATFORM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Arial"/>
              </a:defRPr>
            </a:pPr>
            <a:r>
              <a:t>Platform roadmap: From pilot to enterprise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Arial"/>
              </a:defRPr>
            </a:pPr>
            <a:r>
              <a:t>Disciplined technological execution transitioning from core engine verification to multi-market expansion.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82512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PLANWISE ENTERPRISE  •  Land-to-Home Development &amp; Construction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8251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Arial"/>
              </a:defRPr>
            </a:pPr>
            <a:r>
              <a:t>14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74519"/>
            <a:ext cx="3364992" cy="3977639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57399"/>
            <a:ext cx="2999232" cy="3611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Arial"/>
              </a:defRPr>
            </a:pPr>
            <a:r>
              <a:t>PHASE 1: NOW</a:t>
            </a:r>
          </a:p>
          <a:p>
            <a:pPr>
              <a:defRPr sz="950" b="1">
                <a:solidFill>
                  <a:srgbClr val="94A3B8"/>
                </a:solidFill>
                <a:latin typeface="Arial"/>
              </a:defRPr>
            </a:pPr>
            <a:r>
              <a:t>Implemented &amp; Verified</a:t>
            </a:r>
          </a:p>
          <a:p/>
          <a:p>
            <a:pPr>
              <a:defRPr sz="900">
                <a:solidFill>
                  <a:srgbClr val="E2E8F0"/>
                </a:solidFill>
                <a:latin typeface="Arial"/>
              </a:defRPr>
            </a:pPr>
            <a:r>
              <a:t>✓  SECS planar land intake &amp; geodetic GPS anchoring</a:t>
            </a:r>
          </a:p>
          <a:p>
            <a:pPr>
              <a:defRPr sz="900">
                <a:solidFill>
                  <a:srgbClr val="E2E8F0"/>
                </a:solidFill>
                <a:latin typeface="Arial"/>
              </a:defRPr>
            </a:pPr>
            <a:r>
              <a:t>✓  Mumbai DCPR 2034 statutory feasibility rule engine</a:t>
            </a:r>
          </a:p>
          <a:p>
            <a:pPr>
              <a:defRPr sz="900">
                <a:solidFill>
                  <a:srgbClr val="E2E8F0"/>
                </a:solidFill>
                <a:latin typeface="Arial"/>
              </a:defRPr>
            </a:pPr>
            <a:r>
              <a:t>✓  CP-SAT parametric 2D/3D house layout generator</a:t>
            </a:r>
          </a:p>
          <a:p>
            <a:pPr>
              <a:defRPr sz="900">
                <a:solidFill>
                  <a:srgbClr val="E2E8F0"/>
                </a:solidFill>
                <a:latin typeface="Arial"/>
              </a:defRPr>
            </a:pPr>
            <a:r>
              <a:t>✓  Canonical Building Model (CBM) semantic 3D schema</a:t>
            </a:r>
          </a:p>
          <a:p>
            <a:pPr>
              <a:defRPr sz="900">
                <a:solidFill>
                  <a:srgbClr val="E2E8F0"/>
                </a:solidFill>
                <a:latin typeface="Arial"/>
              </a:defRPr>
            </a:pPr>
            <a:r>
              <a:t>✓  Model-linked QTO takeoff (IS 1200 measurement rules)</a:t>
            </a:r>
          </a:p>
          <a:p>
            <a:pPr>
              <a:defRPr sz="900">
                <a:solidFill>
                  <a:srgbClr val="E2E8F0"/>
                </a:solidFill>
                <a:latin typeface="Arial"/>
              </a:defRPr>
            </a:pPr>
            <a:r>
              <a:t>✓  Regional cost waterfall engine (INDIA-MUMBAI-2026-Q4-V1)</a:t>
            </a:r>
          </a:p>
          <a:p>
            <a:pPr>
              <a:defRPr sz="900">
                <a:solidFill>
                  <a:srgbClr val="E2E8F0"/>
                </a:solidFill>
                <a:latin typeface="Arial"/>
              </a:defRPr>
            </a:pPr>
            <a:r>
              <a:t>✓  G0–G6 Engineer Review Ledger &amp; SHA-256 release package</a:t>
            </a:r>
          </a:p>
          <a:p>
            <a:pPr>
              <a:defRPr sz="900">
                <a:solidFill>
                  <a:srgbClr val="E2E8F0"/>
                </a:solidFill>
                <a:latin typeface="Arial"/>
              </a:defRPr>
            </a:pPr>
            <a:r>
              <a:t>✓  Controlled 1,100 sq ft single-project pilot completed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874519"/>
            <a:ext cx="3364992" cy="3977639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2057399"/>
            <a:ext cx="2999232" cy="3611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Arial"/>
              </a:defRPr>
            </a:pPr>
            <a:r>
              <a:t>PHASE 2: NEXT</a:t>
            </a:r>
          </a:p>
          <a:p>
            <a:pPr>
              <a:defRPr sz="950" b="1">
                <a:solidFill>
                  <a:srgbClr val="94A3B8"/>
                </a:solidFill>
                <a:latin typeface="Arial"/>
              </a:defRPr>
            </a:pPr>
            <a:r>
              <a:t>Professional Pilots &amp; Ecosystem</a:t>
            </a:r>
          </a:p>
          <a:p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→  Interactive client walkthroughs &amp; 3D WebGL model inspection</a:t>
            </a:r>
          </a:p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→  Multi-firm professional pilot cohort (builders, architects, engineers)</a:t>
            </a:r>
          </a:p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→  Municipal pre-check format exports (AutoDCR / CAD compliance)</a:t>
            </a:r>
          </a:p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→  Subcontractor procurement packages &amp; digital tender generation</a:t>
            </a:r>
          </a:p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→  Mobile surveyor intake app with timestamped photo anchoring</a:t>
            </a:r>
          </a:p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→  Expanded regional cost database for Tier-1 Indian metros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874519"/>
            <a:ext cx="3364992" cy="3977639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6" y="2057399"/>
            <a:ext cx="2999232" cy="3611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Arial"/>
              </a:defRPr>
            </a:pPr>
            <a:r>
              <a:t>PHASE 3: LATER</a:t>
            </a:r>
          </a:p>
          <a:p>
            <a:pPr>
              <a:defRPr sz="950" b="1">
                <a:solidFill>
                  <a:srgbClr val="94A3B8"/>
                </a:solidFill>
                <a:latin typeface="Arial"/>
              </a:defRPr>
            </a:pPr>
            <a:r>
              <a:t>Multi-Typology &amp; Enterprise Scale</a:t>
            </a:r>
          </a:p>
          <a:p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→  Multi-typology expansion: commercial, mixed-use, row housing</a:t>
            </a:r>
          </a:p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→  National statutory rulepack library (NBC 2016, Delhi, Bengaluru)</a:t>
            </a:r>
          </a:p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→  Automated structural FEA integration &amp; reinforcement schedules</a:t>
            </a:r>
          </a:p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→  On-site construction IoT progress tracking &amp; digital twin syncing</a:t>
            </a:r>
          </a:p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→  Enterprise ERP integration for large real-estate development corporations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rial"/>
              </a:defRPr>
            </a:pPr>
            <a:r>
              <a:t>PARTNERSHIP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Arial"/>
              </a:defRPr>
            </a:pPr>
            <a:r>
              <a:t>We are looking for the right partners.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Arial"/>
              </a:defRPr>
            </a:pPr>
            <a:r>
              <a:t>Collaborating with forward-thinking builders, professionals, and strategic investors to scale computational development.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82512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PLANWISE ENTERPRISE  •  Land-to-Home Development &amp; Construction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8251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Arial"/>
              </a:defRPr>
            </a:pPr>
            <a:r>
              <a:t>15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74519"/>
            <a:ext cx="2011680" cy="3977639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039111"/>
            <a:ext cx="1737360" cy="36484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Arial"/>
              </a:defRPr>
            </a:pPr>
            <a:r>
              <a:t>OPPORTUNITY 01</a:t>
            </a:r>
          </a:p>
          <a:p>
            <a:pPr>
              <a:defRPr sz="1200" b="1">
                <a:solidFill>
                  <a:srgbClr val="F8FAFC"/>
                </a:solidFill>
                <a:latin typeface="Arial"/>
              </a:defRPr>
            </a:pPr>
            <a:r>
              <a:t>Builder &amp; Developer Pilots</a:t>
            </a:r>
          </a:p>
          <a:p>
            <a:pPr>
              <a:defRPr sz="750" b="1">
                <a:solidFill>
                  <a:srgbClr val="94A3B8"/>
                </a:solidFill>
                <a:latin typeface="Arial"/>
              </a:defRPr>
            </a:pPr>
            <a:r>
              <a:t>PILOT COLLABORATIONS</a:t>
            </a:r>
          </a:p>
          <a:p/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Forward-thinking residential builders and plotting developers seeking to pilot Planwise on upcoming real estate parcels for automated feasibility and costing.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10535" y="1874519"/>
            <a:ext cx="2011680" cy="3977639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7695" y="2039111"/>
            <a:ext cx="1737360" cy="36484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2563EB"/>
                </a:solidFill>
                <a:latin typeface="Arial"/>
              </a:defRPr>
            </a:pPr>
            <a:r>
              <a:t>OPPORTUNITY 02</a:t>
            </a:r>
          </a:p>
          <a:p>
            <a:pPr>
              <a:defRPr sz="1200" b="1">
                <a:solidFill>
                  <a:srgbClr val="F8FAFC"/>
                </a:solidFill>
                <a:latin typeface="Arial"/>
              </a:defRPr>
            </a:pPr>
            <a:r>
              <a:t>Professional Review Network</a:t>
            </a:r>
          </a:p>
          <a:p>
            <a:pPr>
              <a:defRPr sz="750" b="1">
                <a:solidFill>
                  <a:srgbClr val="94A3B8"/>
                </a:solidFill>
                <a:latin typeface="Arial"/>
              </a:defRPr>
            </a:pPr>
            <a:r>
              <a:t>ARCHITECTS &amp; ENGINEERS</a:t>
            </a:r>
          </a:p>
          <a:p/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Registered architectural practices, certified structural engineers, and licensed land surveyors interested in joining our accredited review network.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9550" y="1874519"/>
            <a:ext cx="2011680" cy="3977639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26710" y="2039111"/>
            <a:ext cx="1737360" cy="36484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10B981"/>
                </a:solidFill>
                <a:latin typeface="Arial"/>
              </a:defRPr>
            </a:pPr>
            <a:r>
              <a:t>OPPORTUNITY 03</a:t>
            </a:r>
          </a:p>
          <a:p>
            <a:pPr>
              <a:defRPr sz="1200" b="1">
                <a:solidFill>
                  <a:srgbClr val="F8FAFC"/>
                </a:solidFill>
                <a:latin typeface="Arial"/>
              </a:defRPr>
            </a:pPr>
            <a:r>
              <a:t>Real Pilot Parcels</a:t>
            </a:r>
          </a:p>
          <a:p>
            <a:pPr>
              <a:defRPr sz="750" b="1">
                <a:solidFill>
                  <a:srgbClr val="94A3B8"/>
                </a:solidFill>
                <a:latin typeface="Arial"/>
              </a:defRPr>
            </a:pPr>
            <a:r>
              <a:t>PROJECT SITES</a:t>
            </a:r>
          </a:p>
          <a:p/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Landowners, builders, and plotting developers with residential plots (800–2,500 sq ft) ready for feasibility screening, layout generation, and costing.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8565" y="1874519"/>
            <a:ext cx="2011680" cy="3977639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5725" y="2039111"/>
            <a:ext cx="1737360" cy="36484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59E0B"/>
                </a:solidFill>
                <a:latin typeface="Arial"/>
              </a:defRPr>
            </a:pPr>
            <a:r>
              <a:t>OPPORTUNITY 04</a:t>
            </a:r>
          </a:p>
          <a:p>
            <a:pPr>
              <a:defRPr sz="1200" b="1">
                <a:solidFill>
                  <a:srgbClr val="F8FAFC"/>
                </a:solidFill>
                <a:latin typeface="Arial"/>
              </a:defRPr>
            </a:pPr>
            <a:r>
              <a:t>Technology &amp; Industry Partners</a:t>
            </a:r>
          </a:p>
          <a:p>
            <a:pPr>
              <a:defRPr sz="750" b="1">
                <a:solidFill>
                  <a:srgbClr val="94A3B8"/>
                </a:solidFill>
                <a:latin typeface="Arial"/>
              </a:defRPr>
            </a:pPr>
            <a:r>
              <a:t>ECOSYSTEM INTEGRATION</a:t>
            </a:r>
          </a:p>
          <a:p/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Collaborations with GIS data providers, BIM software ecosystems, municipal compliance systems, and construction technology platforms.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47580" y="1874519"/>
            <a:ext cx="2011680" cy="3977639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84740" y="2039111"/>
            <a:ext cx="1737360" cy="36484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A855F7"/>
                </a:solidFill>
                <a:latin typeface="Arial"/>
              </a:defRPr>
            </a:pPr>
            <a:r>
              <a:t>OPPORTUNITY 05</a:t>
            </a:r>
          </a:p>
          <a:p>
            <a:pPr>
              <a:defRPr sz="1200" b="1">
                <a:solidFill>
                  <a:srgbClr val="F8FAFC"/>
                </a:solidFill>
                <a:latin typeface="Arial"/>
              </a:defRPr>
            </a:pPr>
            <a:r>
              <a:t>Strategic Capital &amp; Advisors</a:t>
            </a:r>
          </a:p>
          <a:p>
            <a:pPr>
              <a:defRPr sz="750" b="1">
                <a:solidFill>
                  <a:srgbClr val="94A3B8"/>
                </a:solidFill>
                <a:latin typeface="Arial"/>
              </a:defRPr>
            </a:pPr>
            <a:r>
              <a:t>INVESTMENT &amp; GUIDANCE</a:t>
            </a:r>
          </a:p>
          <a:p/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Value-add strategic investors and real-estate industry leaders aligned with modernizing fragmented property development into a scalable computational science.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9436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Focus: Quality pilot partnerships with active parcels and accredited professionals.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rial"/>
              </a:defRPr>
            </a:pPr>
            <a:r>
              <a:t>CALL TO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Arial"/>
              </a:defRPr>
            </a:pPr>
            <a:r>
              <a:t>Let's build the next generation of development infrastructure.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Arial"/>
              </a:defRPr>
            </a:pPr>
            <a:r>
              <a:t>Transforming fragmented real estate development into an integrated, computational science.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82512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PLANWISE ENTERPRISE  •  Land-to-Home Development &amp; Construction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8251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Arial"/>
              </a:defRPr>
            </a:pPr>
            <a:r>
              <a:t>16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74519"/>
            <a:ext cx="3364992" cy="265176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39111"/>
            <a:ext cx="2999232" cy="2322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Arial"/>
              </a:defRPr>
            </a:pPr>
            <a:r>
              <a:t>PATHWAY 01</a:t>
            </a:r>
          </a:p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Pilot Planwise</a:t>
            </a:r>
          </a:p>
          <a:p>
            <a:pPr>
              <a:defRPr sz="800" b="1">
                <a:solidFill>
                  <a:srgbClr val="94A3B8"/>
                </a:solidFill>
                <a:latin typeface="Arial"/>
              </a:defRPr>
            </a:pPr>
            <a:r>
              <a:t>FOR BUILDERS &amp; LANDOWNERS</a:t>
            </a:r>
          </a:p>
          <a:p/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Bring an active residential parcel to experience the end-to-end feasibility, design, QTO, and costing workflow on real site data.</a:t>
            </a:r>
          </a:p>
          <a:p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→  Schedule a 30-Minute Pilot Demonstration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874519"/>
            <a:ext cx="3364992" cy="265176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2039111"/>
            <a:ext cx="2999232" cy="2322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2563EB"/>
                </a:solidFill>
                <a:latin typeface="Arial"/>
              </a:defRPr>
            </a:pPr>
            <a:r>
              <a:t>PATHWAY 02</a:t>
            </a:r>
          </a:p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Join the Network</a:t>
            </a:r>
          </a:p>
          <a:p>
            <a:pPr>
              <a:defRPr sz="800" b="1">
                <a:solidFill>
                  <a:srgbClr val="94A3B8"/>
                </a:solidFill>
                <a:latin typeface="Arial"/>
              </a:defRPr>
            </a:pPr>
            <a:r>
              <a:t>FOR ARCHITECTS &amp; ENGINEERS</a:t>
            </a:r>
          </a:p>
          <a:p/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Become a founding professional partner in our accredited review network for statutory compliance and structural sign-offs.</a:t>
            </a:r>
          </a:p>
          <a:p/>
          <a:p>
            <a:pPr>
              <a:defRPr sz="950" b="1">
                <a:solidFill>
                  <a:srgbClr val="2563EB"/>
                </a:solidFill>
                <a:latin typeface="Arial"/>
              </a:defRPr>
            </a:pPr>
            <a:r>
              <a:t>→  Apply for Accredited Partner Network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874519"/>
            <a:ext cx="3364992" cy="265176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6" y="2039111"/>
            <a:ext cx="2999232" cy="2322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10B981"/>
                </a:solidFill>
                <a:latin typeface="Arial"/>
              </a:defRPr>
            </a:pPr>
            <a:r>
              <a:t>PATHWAY 03</a:t>
            </a:r>
          </a:p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Invest &amp; Scale</a:t>
            </a:r>
          </a:p>
          <a:p>
            <a:pPr>
              <a:defRPr sz="800" b="1">
                <a:solidFill>
                  <a:srgbClr val="94A3B8"/>
                </a:solidFill>
                <a:latin typeface="Arial"/>
              </a:defRPr>
            </a:pPr>
            <a:r>
              <a:t>FOR STRATEGIC INVESTORS</a:t>
            </a:r>
          </a:p>
          <a:p/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Partner with Planwise Enterprise as a strategic investor to modernise the residential development and construction software ecosystem.</a:t>
            </a:r>
          </a:p>
          <a:p/>
          <a:p>
            <a:pPr>
              <a:defRPr sz="950" b="1">
                <a:solidFill>
                  <a:srgbClr val="10B981"/>
                </a:solidFill>
                <a:latin typeface="Arial"/>
              </a:defRPr>
            </a:pPr>
            <a:r>
              <a:t>→  Request Detailed Investment Brief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709160"/>
            <a:ext cx="10728655" cy="1371600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800600"/>
            <a:ext cx="1018001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Arial"/>
              </a:defRPr>
            </a:pPr>
            <a:r>
              <a:t>PLANWISE ENTERPRISE</a:t>
            </a:r>
          </a:p>
          <a:p>
            <a:pPr>
              <a:defRPr sz="1050">
                <a:solidFill>
                  <a:srgbClr val="38BDF8"/>
                </a:solidFill>
                <a:latin typeface="Arial"/>
              </a:defRPr>
            </a:pPr>
            <a:r>
              <a:t>Computational Real Estate Development &amp; Construction Platform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Location: Mumbai, Maharashtra, India  •  Audience Outreach: Developers, Builders, AEC Professionals &amp; Strategic Investors</a:t>
            </a:r>
          </a:p>
          <a:p>
            <a:pPr>
              <a:defRPr sz="950" b="1">
                <a:solidFill>
                  <a:srgbClr val="E2E8F0"/>
                </a:solidFill>
                <a:latin typeface="Arial"/>
              </a:defRPr>
            </a:pPr>
            <a:r>
              <a:t>Website: planwise.enterprise  •  Inquiries: partnerships@planwise.enterprise  •  Private &amp;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